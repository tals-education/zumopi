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38e2f7c6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38e2f7c6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38e2f7c6ba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38e2f7c6ba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38e2f7c6ba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38e2f7c6ba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8e2f7c6ba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38e2f7c6ba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38e2f7c6ba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38e2f7c6ba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38e2f7c6ba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38e2f7c6ba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38e2f7c6ba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38e2f7c6ba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38e2f7c6ba_0_1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38e2f7c6ba_0_1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38e2f7c6ba_0_3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38e2f7c6ba_0_3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38e2f7c6ba_0_2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38e2f7c6ba_0_2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38e2f7c6ba_0_2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38e2f7c6ba_0_2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38e2f7c6ba_0_2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38e2f7c6ba_0_2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d0fcab45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d0fcab45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38e2f7c6ba_0_1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38e2f7c6ba_0_1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38e2f7c6ba_0_3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38e2f7c6ba_0_3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fe9bbd2b3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fe9bbd2b3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38e2f7c6ba_0_3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38e2f7c6ba_0_3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38e2f7c6ba_0_3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38e2f7c6ba_0_3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38e2f7c6ba_0_3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38e2f7c6ba_0_3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2b98b118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52b98b118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38e2f7c6ba_0_3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38e2f7c6ba_0_3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38e2f7c6ba_0_4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38e2f7c6ba_0_4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38e2f7c6ba_0_4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38e2f7c6ba_0_4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3c94fcc23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3c94fcc2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38e2f7c6ba_0_4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38e2f7c6ba_0_4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38e6e1cc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38e6e1cc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lackberry.qnx.com/en/ultimate-guides/autonomous-systems" TargetMode="Externa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blackberry.qnx.com/en/ultimate-guides/autonomous-system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blackberry.qnx.com/en/ultimate-guides/autonomous-system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blackberry.qnx.com/en/ultimate-guides/autonomous-systems"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blackberry.qnx.com/en/ultimate-guides/autonomous-systems"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dnv.com/to2030/technology/autonomous-control-systems.html" TargetMode="Externa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hyperlink" Target="https://locusrobotics.com/what-are-autonomous-robots/" TargetMode="External"/><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document/d/e/2PACX-1vSRhd-30rmtIF2HPscD5JaTjM3gYBKtP_xKVeRy3z4pcjrV1rEy736VIGJzMv3iz-DmGGyzHFpCvZNT/pub" TargetMode="Externa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TALs-Education/ZumoPi" TargetMode="External"/><Relationship Id="rId4" Type="http://schemas.openxmlformats.org/officeDocument/2006/relationships/image" Target="../media/image12.jp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hyperlink" Target="https://www.raspberrypi.org/" TargetMode="External"/><Relationship Id="rId5" Type="http://schemas.openxmlformats.org/officeDocument/2006/relationships/hyperlink" Target="https://www.pololu.com/product/5012" TargetMode="External"/><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mobaxterm.mobatek.net/" TargetMode="External"/><Relationship Id="rId4" Type="http://schemas.openxmlformats.org/officeDocument/2006/relationships/hyperlink" Target="https://www.arduino.cc/" TargetMode="External"/><Relationship Id="rId10" Type="http://schemas.openxmlformats.org/officeDocument/2006/relationships/image" Target="../media/image4.png"/><Relationship Id="rId9" Type="http://schemas.openxmlformats.org/officeDocument/2006/relationships/image" Target="../media/image16.png"/><Relationship Id="rId5" Type="http://schemas.openxmlformats.org/officeDocument/2006/relationships/hyperlink" Target="https://code.visualstudio.com/" TargetMode="External"/><Relationship Id="rId6" Type="http://schemas.openxmlformats.org/officeDocument/2006/relationships/hyperlink" Target="https://www.realvnc.com/en/" TargetMode="External"/><Relationship Id="rId7" Type="http://schemas.openxmlformats.org/officeDocument/2006/relationships/hyperlink" Target="https://www.python.org/" TargetMode="External"/><Relationship Id="rId8"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hyperlink" Target="https://www.pololu.com/product/501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hyperlink" Target="https://www.ucl.ac.uk/isd/what-ssh-and-how-do-i-use-it" TargetMode="External"/><Relationship Id="rId6" Type="http://schemas.openxmlformats.org/officeDocument/2006/relationships/hyperlink" Target="https://mobaxterm.mobatek.ne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en.wikipedia.org/wiki/Linux" TargetMode="External"/><Relationship Id="rId4" Type="http://schemas.openxmlformats.org/officeDocument/2006/relationships/hyperlink" Target="https://www.raspbian.org/" TargetMode="External"/><Relationship Id="rId5" Type="http://schemas.openxmlformats.org/officeDocument/2006/relationships/hyperlink" Target="https://www.raspberrypi.com/software/" TargetMode="External"/><Relationship Id="rId6" Type="http://schemas.openxmlformats.org/officeDocument/2006/relationships/image" Target="../media/image6.png"/><Relationship Id="rId7"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hyperlink" Target="https://mally.stanford.edu/~sr/computing/basic-uni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realvnc.com/en/" TargetMode="External"/><Relationship Id="rId4" Type="http://schemas.openxmlformats.org/officeDocument/2006/relationships/image" Target="../media/image31.png"/><Relationship Id="rId5"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ufinebattery.com/blog/how-to-read-lithium-battery-discharge-curve-and-charging-curve/" TargetMode="External"/><Relationship Id="rId4" Type="http://schemas.openxmlformats.org/officeDocument/2006/relationships/image" Target="../media/image27.png"/><Relationship Id="rId5" Type="http://schemas.openxmlformats.org/officeDocument/2006/relationships/hyperlink" Target="https://www.ufinebattery.com/blog/how-to-read-lithium-battery-discharge-curve-and-charging-curve/" TargetMode="External"/><Relationship Id="rId6"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35.png"/><Relationship Id="rId5"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9.jpg"/><Relationship Id="rId4" Type="http://schemas.openxmlformats.org/officeDocument/2006/relationships/hyperlink" Target="https://github.com/TALs-Education/HomeExperimen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94300" y="282525"/>
            <a:ext cx="8555400" cy="702600"/>
          </a:xfrm>
          <a:prstGeom prst="rect">
            <a:avLst/>
          </a:prstGeom>
        </p:spPr>
        <p:txBody>
          <a:bodyPr anchorCtr="0" anchor="b" bIns="91425" lIns="91425" spcFirstLastPara="1" rIns="91425" wrap="square" tIns="91425">
            <a:normAutofit/>
          </a:bodyPr>
          <a:lstStyle/>
          <a:p>
            <a:pPr indent="0" lvl="0" marL="0" marR="0" rtl="0" algn="ctr">
              <a:lnSpc>
                <a:spcPct val="176470"/>
              </a:lnSpc>
              <a:spcBef>
                <a:spcPts val="0"/>
              </a:spcBef>
              <a:spcAft>
                <a:spcPts val="2300"/>
              </a:spcAft>
              <a:buNone/>
            </a:pPr>
            <a:r>
              <a:rPr b="1" lang="en-GB" sz="3050">
                <a:solidFill>
                  <a:srgbClr val="741B47"/>
                </a:solidFill>
                <a:highlight>
                  <a:srgbClr val="F9F9FA"/>
                </a:highlight>
                <a:latin typeface="Roboto"/>
                <a:ea typeface="Roboto"/>
                <a:cs typeface="Roboto"/>
                <a:sym typeface="Roboto"/>
              </a:rPr>
              <a:t>Autonomous Systems Lab</a:t>
            </a:r>
            <a:endParaRPr b="1" sz="3050">
              <a:solidFill>
                <a:srgbClr val="741B47"/>
              </a:solidFill>
              <a:highlight>
                <a:srgbClr val="F9F9FA"/>
              </a:highlight>
              <a:latin typeface="Roboto"/>
              <a:ea typeface="Roboto"/>
              <a:cs typeface="Roboto"/>
              <a:sym typeface="Roboto"/>
            </a:endParaRPr>
          </a:p>
        </p:txBody>
      </p:sp>
      <p:pic>
        <p:nvPicPr>
          <p:cNvPr id="55" name="Google Shape;55;p13"/>
          <p:cNvPicPr preferRelativeResize="0"/>
          <p:nvPr/>
        </p:nvPicPr>
        <p:blipFill>
          <a:blip r:embed="rId3">
            <a:alphaModFix/>
          </a:blip>
          <a:stretch>
            <a:fillRect/>
          </a:stretch>
        </p:blipFill>
        <p:spPr>
          <a:xfrm>
            <a:off x="533400" y="985125"/>
            <a:ext cx="8144604" cy="3853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What Are Autonomous Systems?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61" name="Google Shape;61;p14"/>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https://blackberry.qnx.com/en/ultimate-guides/autonomous-systems</a:t>
            </a:r>
            <a:r>
              <a:rPr lang="en-GB" sz="1025">
                <a:solidFill>
                  <a:schemeClr val="dk1"/>
                </a:solidFill>
              </a:rPr>
              <a:t> </a:t>
            </a:r>
            <a:endParaRPr sz="1025">
              <a:solidFill>
                <a:schemeClr val="dk1"/>
              </a:solidFill>
            </a:endParaRPr>
          </a:p>
        </p:txBody>
      </p:sp>
      <p:sp>
        <p:nvSpPr>
          <p:cNvPr id="62" name="Google Shape;62;p14"/>
          <p:cNvSpPr txBox="1"/>
          <p:nvPr/>
        </p:nvSpPr>
        <p:spPr>
          <a:xfrm>
            <a:off x="405750" y="1017725"/>
            <a:ext cx="8332500" cy="900300"/>
          </a:xfrm>
          <a:prstGeom prst="rect">
            <a:avLst/>
          </a:prstGeom>
          <a:noFill/>
          <a:ln>
            <a:noFill/>
          </a:ln>
        </p:spPr>
        <p:txBody>
          <a:bodyPr anchorCtr="0" anchor="t" bIns="91425" lIns="91425" spcFirstLastPara="1" rIns="91425" wrap="square" tIns="91425">
            <a:spAutoFit/>
          </a:bodyPr>
          <a:lstStyle/>
          <a:p>
            <a:pPr indent="0" lvl="0" marL="0" marR="0" rtl="0" algn="l">
              <a:lnSpc>
                <a:spcPct val="143750"/>
              </a:lnSpc>
              <a:spcBef>
                <a:spcPts val="0"/>
              </a:spcBef>
              <a:spcAft>
                <a:spcPts val="1200"/>
              </a:spcAft>
              <a:buNone/>
            </a:pPr>
            <a:r>
              <a:rPr lang="en-GB" sz="1200">
                <a:solidFill>
                  <a:schemeClr val="dk1"/>
                </a:solidFill>
                <a:highlight>
                  <a:srgbClr val="FFFFFF"/>
                </a:highlight>
                <a:latin typeface="Roboto"/>
                <a:ea typeface="Roboto"/>
                <a:cs typeface="Roboto"/>
                <a:sym typeface="Roboto"/>
              </a:rPr>
              <a:t>An autonomous system is one that can achieve a given set of goals in a changing environment—gathering information about the environment and working for an extended period of time without human control or intervention. Driverless cars and autonomous mobile robots (AMRs) used in warehouses are two common examples.</a:t>
            </a:r>
            <a:endParaRPr sz="1200">
              <a:solidFill>
                <a:schemeClr val="dk1"/>
              </a:solidFill>
              <a:highlight>
                <a:srgbClr val="FFFFFF"/>
              </a:highlight>
              <a:latin typeface="Roboto"/>
              <a:ea typeface="Roboto"/>
              <a:cs typeface="Roboto"/>
              <a:sym typeface="Roboto"/>
            </a:endParaRPr>
          </a:p>
        </p:txBody>
      </p:sp>
      <p:pic>
        <p:nvPicPr>
          <p:cNvPr id="63" name="Google Shape;63;p14"/>
          <p:cNvPicPr preferRelativeResize="0"/>
          <p:nvPr/>
        </p:nvPicPr>
        <p:blipFill>
          <a:blip r:embed="rId4">
            <a:alphaModFix amt="60000"/>
          </a:blip>
          <a:stretch>
            <a:fillRect/>
          </a:stretch>
        </p:blipFill>
        <p:spPr>
          <a:xfrm>
            <a:off x="5463377" y="1918025"/>
            <a:ext cx="3680624" cy="2805325"/>
          </a:xfrm>
          <a:prstGeom prst="rect">
            <a:avLst/>
          </a:prstGeom>
          <a:noFill/>
          <a:ln>
            <a:noFill/>
          </a:ln>
        </p:spPr>
      </p:pic>
      <p:sp>
        <p:nvSpPr>
          <p:cNvPr id="64" name="Google Shape;64;p14"/>
          <p:cNvSpPr txBox="1"/>
          <p:nvPr/>
        </p:nvSpPr>
        <p:spPr>
          <a:xfrm>
            <a:off x="405750" y="1999475"/>
            <a:ext cx="5324700" cy="21165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lang="en-GB" sz="1200">
                <a:solidFill>
                  <a:schemeClr val="dk1"/>
                </a:solidFill>
                <a:highlight>
                  <a:srgbClr val="FFFFFF"/>
                </a:highlight>
                <a:latin typeface="Roboto"/>
                <a:ea typeface="Roboto"/>
                <a:cs typeface="Roboto"/>
                <a:sym typeface="Roboto"/>
              </a:rPr>
              <a:t>Autonomy requires that the system be able to do the following:</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Sense the environment and keep track of the system’s current state and location.</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Perceive and understand disparate data sources.</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Determine what action to take next and make a plan.</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Act only when it is safe to do so, avoiding situations that pose a risk to human safety, property or the autonomous system itself.</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Sensors Used in Autonomous Systems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70" name="Google Shape;70;p15"/>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https://blackberry.qnx.com/en/ultimate-guides/autonomous-systems</a:t>
            </a:r>
            <a:r>
              <a:rPr lang="en-GB" sz="1025">
                <a:solidFill>
                  <a:schemeClr val="dk1"/>
                </a:solidFill>
              </a:rPr>
              <a:t> </a:t>
            </a:r>
            <a:endParaRPr sz="1025">
              <a:solidFill>
                <a:schemeClr val="dk1"/>
              </a:solidFill>
            </a:endParaRPr>
          </a:p>
        </p:txBody>
      </p:sp>
      <p:sp>
        <p:nvSpPr>
          <p:cNvPr id="71" name="Google Shape;71;p15"/>
          <p:cNvSpPr txBox="1"/>
          <p:nvPr/>
        </p:nvSpPr>
        <p:spPr>
          <a:xfrm>
            <a:off x="405750" y="1017725"/>
            <a:ext cx="8693100" cy="34440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lang="en-GB" sz="1200">
                <a:solidFill>
                  <a:schemeClr val="dk1"/>
                </a:solidFill>
                <a:highlight>
                  <a:srgbClr val="FFFFFF"/>
                </a:highlight>
                <a:latin typeface="Roboto"/>
                <a:ea typeface="Roboto"/>
                <a:cs typeface="Roboto"/>
                <a:sym typeface="Roboto"/>
              </a:rPr>
              <a:t>Sensors help an autonomous system determine its location, identify informational signs, and avoid obstacles and other hazards. The use of multiple sensors can overcome a weakness of one type of sensor by pairing it with another one with different strengths and weaknesses.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Camera sensors:</a:t>
            </a:r>
            <a:r>
              <a:rPr lang="en-GB" sz="1200">
                <a:solidFill>
                  <a:schemeClr val="dk1"/>
                </a:solidFill>
                <a:highlight>
                  <a:srgbClr val="FFFFFF"/>
                </a:highlight>
                <a:latin typeface="Roboto"/>
                <a:ea typeface="Roboto"/>
                <a:cs typeface="Roboto"/>
                <a:sym typeface="Roboto"/>
              </a:rPr>
              <a:t> Video and still-image cameras are common types of optical sensors. Multiple cameras can provide a 360° view of the environment.</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Ultrasonic sensors:</a:t>
            </a:r>
            <a:r>
              <a:rPr lang="en-GB" sz="1200">
                <a:solidFill>
                  <a:schemeClr val="dk1"/>
                </a:solidFill>
                <a:highlight>
                  <a:srgbClr val="FFFFFF"/>
                </a:highlight>
                <a:latin typeface="Roboto"/>
                <a:ea typeface="Roboto"/>
                <a:cs typeface="Roboto"/>
                <a:sym typeface="Roboto"/>
              </a:rPr>
              <a:t> Ultrasonic sensors use high frequency sound waves to estimate distances between the sensor and an object. Ultrasonic sensors are typically used in short-distance applications</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Infrared sensors:</a:t>
            </a:r>
            <a:r>
              <a:rPr lang="en-GB" sz="1200">
                <a:solidFill>
                  <a:schemeClr val="dk1"/>
                </a:solidFill>
                <a:highlight>
                  <a:srgbClr val="FFFFFF"/>
                </a:highlight>
                <a:latin typeface="Roboto"/>
                <a:ea typeface="Roboto"/>
                <a:cs typeface="Roboto"/>
                <a:sym typeface="Roboto"/>
              </a:rPr>
              <a:t> Infrared sensors provide images under low-lighting conditions, such as those in night-vision systems.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LiDAR sensors:</a:t>
            </a:r>
            <a:r>
              <a:rPr lang="en-GB" sz="1200">
                <a:solidFill>
                  <a:schemeClr val="dk1"/>
                </a:solidFill>
                <a:highlight>
                  <a:srgbClr val="FFFFFF"/>
                </a:highlight>
                <a:latin typeface="Roboto"/>
                <a:ea typeface="Roboto"/>
                <a:cs typeface="Roboto"/>
                <a:sym typeface="Roboto"/>
              </a:rPr>
              <a:t> LiDAR sensors use lasers to estimate distance and create high-resolution 3D images of the environment. Rotating LiDAR systems offer a full 360° view around an autonomous device.</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Radar sensors:</a:t>
            </a:r>
            <a:r>
              <a:rPr lang="en-GB" sz="1200">
                <a:solidFill>
                  <a:schemeClr val="dk1"/>
                </a:solidFill>
                <a:highlight>
                  <a:srgbClr val="FFFFFF"/>
                </a:highlight>
                <a:latin typeface="Roboto"/>
                <a:ea typeface="Roboto"/>
                <a:cs typeface="Roboto"/>
                <a:sym typeface="Roboto"/>
              </a:rPr>
              <a:t> Using short-range (24 GHz) and long-range (77 GHz) radio waves, radar sensors monitor blind spots in autonomous vehicles for safer distance control and braking assistance applications.</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Additional </a:t>
            </a:r>
            <a:r>
              <a:rPr b="1" lang="en-GB" sz="2250">
                <a:solidFill>
                  <a:srgbClr val="741B47"/>
                </a:solidFill>
                <a:highlight>
                  <a:srgbClr val="F9F9FA"/>
                </a:highlight>
                <a:latin typeface="Roboto"/>
                <a:ea typeface="Roboto"/>
                <a:cs typeface="Roboto"/>
                <a:sym typeface="Roboto"/>
              </a:rPr>
              <a:t>Sensors Used in Autonomous Systems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77" name="Google Shape;77;p16"/>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https://blackberry.qnx.com/en/ultimate-guides/autonomous-systems</a:t>
            </a:r>
            <a:r>
              <a:rPr lang="en-GB" sz="1025">
                <a:solidFill>
                  <a:schemeClr val="dk1"/>
                </a:solidFill>
              </a:rPr>
              <a:t> </a:t>
            </a:r>
            <a:endParaRPr sz="1025">
              <a:solidFill>
                <a:schemeClr val="dk1"/>
              </a:solidFill>
            </a:endParaRPr>
          </a:p>
        </p:txBody>
      </p:sp>
      <p:sp>
        <p:nvSpPr>
          <p:cNvPr id="78" name="Google Shape;78;p16"/>
          <p:cNvSpPr txBox="1"/>
          <p:nvPr/>
        </p:nvSpPr>
        <p:spPr>
          <a:xfrm>
            <a:off x="405750" y="1017725"/>
            <a:ext cx="8693100" cy="32901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Accelerometer sensors:</a:t>
            </a:r>
            <a:r>
              <a:rPr lang="en-GB" sz="1200">
                <a:solidFill>
                  <a:schemeClr val="dk1"/>
                </a:solidFill>
                <a:highlight>
                  <a:srgbClr val="FFFFFF"/>
                </a:highlight>
                <a:latin typeface="Roboto"/>
                <a:ea typeface="Roboto"/>
                <a:cs typeface="Roboto"/>
                <a:sym typeface="Roboto"/>
              </a:rPr>
              <a:t> Accelerometers measure changes in speed. Accelerometers are used for orientation, slope and collision detection.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Gyro sensors:</a:t>
            </a:r>
            <a:r>
              <a:rPr lang="en-GB" sz="1200">
                <a:solidFill>
                  <a:schemeClr val="dk1"/>
                </a:solidFill>
                <a:highlight>
                  <a:srgbClr val="FFFFFF"/>
                </a:highlight>
                <a:latin typeface="Roboto"/>
                <a:ea typeface="Roboto"/>
                <a:cs typeface="Roboto"/>
                <a:sym typeface="Roboto"/>
              </a:rPr>
              <a:t> Gyro sensors measure orientation and angular velocity. A gyro sensor uses a spinning disk that pivots and self-orients with respect to Earth’s gravity. Gyro sensors help maintain direction in applications such as tunnel mining and aerospace.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IMU sensor:</a:t>
            </a:r>
            <a:r>
              <a:rPr lang="en-GB" sz="1200">
                <a:solidFill>
                  <a:schemeClr val="dk1"/>
                </a:solidFill>
                <a:highlight>
                  <a:srgbClr val="FFFFFF"/>
                </a:highlight>
                <a:latin typeface="Roboto"/>
                <a:ea typeface="Roboto"/>
                <a:cs typeface="Roboto"/>
                <a:sym typeface="Roboto"/>
              </a:rPr>
              <a:t> An inertial measurement unit (IMU) uses gyro sensors and accelerometers to measure position and orientation.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Inertial navigation system:</a:t>
            </a:r>
            <a:r>
              <a:rPr lang="en-GB" sz="1200">
                <a:solidFill>
                  <a:schemeClr val="dk1"/>
                </a:solidFill>
                <a:highlight>
                  <a:srgbClr val="FFFFFF"/>
                </a:highlight>
                <a:latin typeface="Roboto"/>
                <a:ea typeface="Roboto"/>
                <a:cs typeface="Roboto"/>
                <a:sym typeface="Roboto"/>
              </a:rPr>
              <a:t> An inertial navigation system (INS) includes an IMU and is used to estimate vehicle position, orientation and speed.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Global positioning</a:t>
            </a:r>
            <a:r>
              <a:rPr lang="en-GB" sz="1200">
                <a:solidFill>
                  <a:schemeClr val="dk1"/>
                </a:solidFill>
                <a:highlight>
                  <a:srgbClr val="FFFFFF"/>
                </a:highlight>
                <a:latin typeface="Roboto"/>
                <a:ea typeface="Roboto"/>
                <a:cs typeface="Roboto"/>
                <a:sym typeface="Roboto"/>
              </a:rPr>
              <a:t> system (GPS) receiver: A GPS receiver is a type of sensor that identifies the position of the system in its local environment through satellite triangulation. GPS receivers are used with maps to estimate position, direction and speed.</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Sensor Fusion</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84" name="Google Shape;84;p17"/>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https://blackberry.qnx.com/en/ultimate-guides/autonomous-systems</a:t>
            </a:r>
            <a:r>
              <a:rPr lang="en-GB" sz="1025">
                <a:solidFill>
                  <a:schemeClr val="dk1"/>
                </a:solidFill>
              </a:rPr>
              <a:t> </a:t>
            </a:r>
            <a:endParaRPr sz="1025">
              <a:solidFill>
                <a:schemeClr val="dk1"/>
              </a:solidFill>
            </a:endParaRPr>
          </a:p>
        </p:txBody>
      </p:sp>
      <p:sp>
        <p:nvSpPr>
          <p:cNvPr id="85" name="Google Shape;85;p17"/>
          <p:cNvSpPr txBox="1"/>
          <p:nvPr/>
        </p:nvSpPr>
        <p:spPr>
          <a:xfrm>
            <a:off x="405750" y="1017725"/>
            <a:ext cx="8236800" cy="14316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1200">
                <a:solidFill>
                  <a:schemeClr val="dk1"/>
                </a:solidFill>
                <a:highlight>
                  <a:srgbClr val="FFFFFF"/>
                </a:highlight>
                <a:latin typeface="Roboto"/>
                <a:ea typeface="Roboto"/>
                <a:cs typeface="Roboto"/>
                <a:sym typeface="Roboto"/>
              </a:rPr>
              <a:t>Each type of sensor and source of environmental information has advantages and disadvantages. Sensor fusion produces more detailed and more accurate information about the environment than could be achieved with a single source. As a branch of machine learning and signal processing that focuses on perception, sensor fusion combines data from multiple sensors and databases to produce higher-quality information so that an autonomous system can make better, safer decisions. Sensor fusion is also known as data fusion, filtering or target tracking.</a:t>
            </a:r>
            <a:endParaRPr sz="1200">
              <a:solidFill>
                <a:schemeClr val="dk1"/>
              </a:solidFill>
              <a:highlight>
                <a:srgbClr val="FFFFFF"/>
              </a:highlight>
              <a:latin typeface="Roboto"/>
              <a:ea typeface="Roboto"/>
              <a:cs typeface="Roboto"/>
              <a:sym typeface="Roboto"/>
            </a:endParaRPr>
          </a:p>
        </p:txBody>
      </p:sp>
      <p:pic>
        <p:nvPicPr>
          <p:cNvPr id="86" name="Google Shape;86;p17"/>
          <p:cNvPicPr preferRelativeResize="0"/>
          <p:nvPr/>
        </p:nvPicPr>
        <p:blipFill>
          <a:blip r:embed="rId4">
            <a:alphaModFix/>
          </a:blip>
          <a:stretch>
            <a:fillRect/>
          </a:stretch>
        </p:blipFill>
        <p:spPr>
          <a:xfrm>
            <a:off x="4245277" y="2412375"/>
            <a:ext cx="4557174" cy="2310975"/>
          </a:xfrm>
          <a:prstGeom prst="rect">
            <a:avLst/>
          </a:prstGeom>
          <a:noFill/>
          <a:ln>
            <a:noFill/>
          </a:ln>
        </p:spPr>
      </p:pic>
      <p:sp>
        <p:nvSpPr>
          <p:cNvPr id="87" name="Google Shape;87;p17"/>
          <p:cNvSpPr txBox="1"/>
          <p:nvPr/>
        </p:nvSpPr>
        <p:spPr>
          <a:xfrm>
            <a:off x="405750" y="2449325"/>
            <a:ext cx="4245000" cy="1165800"/>
          </a:xfrm>
          <a:prstGeom prst="rect">
            <a:avLst/>
          </a:prstGeom>
          <a:noFill/>
          <a:ln>
            <a:noFill/>
          </a:ln>
        </p:spPr>
        <p:txBody>
          <a:bodyPr anchorCtr="0" anchor="t" bIns="91425" lIns="91425" spcFirstLastPara="1" rIns="91425" wrap="square" tIns="91425">
            <a:spAutoFit/>
          </a:bodyPr>
          <a:lstStyle/>
          <a:p>
            <a:pPr indent="0" lvl="0" marL="0" marR="0" rtl="0" algn="l">
              <a:lnSpc>
                <a:spcPct val="143750"/>
              </a:lnSpc>
              <a:spcBef>
                <a:spcPts val="0"/>
              </a:spcBef>
              <a:spcAft>
                <a:spcPts val="1200"/>
              </a:spcAft>
              <a:buNone/>
            </a:pPr>
            <a:r>
              <a:rPr lang="en-GB" sz="1200">
                <a:solidFill>
                  <a:schemeClr val="dk1"/>
                </a:solidFill>
                <a:highlight>
                  <a:srgbClr val="FFFFFF"/>
                </a:highlight>
                <a:latin typeface="Roboto"/>
                <a:ea typeface="Roboto"/>
                <a:cs typeface="Roboto"/>
                <a:sym typeface="Roboto"/>
              </a:rPr>
              <a:t>Sensor fusion systems typically take data from cameras, LiDAR, radar, sonar and other sensors and fuse it together, essentially augmenting data from one type of sensor with data from another type of sensor.</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Examples of Autonomous Vehicle Platform Architecture</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93" name="Google Shape;93;p18"/>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https://blackberry.qnx.com/en/ultimate-guides/autonomous-systems</a:t>
            </a:r>
            <a:r>
              <a:rPr lang="en-GB" sz="1025">
                <a:solidFill>
                  <a:schemeClr val="dk1"/>
                </a:solidFill>
              </a:rPr>
              <a:t> </a:t>
            </a:r>
            <a:endParaRPr sz="1025">
              <a:solidFill>
                <a:schemeClr val="dk1"/>
              </a:solidFill>
            </a:endParaRPr>
          </a:p>
        </p:txBody>
      </p:sp>
      <p:pic>
        <p:nvPicPr>
          <p:cNvPr id="94" name="Google Shape;94;p18"/>
          <p:cNvPicPr preferRelativeResize="0"/>
          <p:nvPr/>
        </p:nvPicPr>
        <p:blipFill rotWithShape="1">
          <a:blip r:embed="rId4">
            <a:alphaModFix/>
          </a:blip>
          <a:srcRect b="0" l="0" r="0" t="13949"/>
          <a:stretch/>
        </p:blipFill>
        <p:spPr>
          <a:xfrm>
            <a:off x="400350" y="1172474"/>
            <a:ext cx="8343299" cy="3130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The rise of autonomous control systems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00" name="Google Shape;100;p19"/>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https://www.dnv.com/to2030/technology/autonomous-control-systems.html</a:t>
            </a:r>
            <a:r>
              <a:rPr lang="en-GB" sz="1025">
                <a:solidFill>
                  <a:schemeClr val="dk1"/>
                </a:solidFill>
              </a:rPr>
              <a:t> </a:t>
            </a:r>
            <a:endParaRPr sz="1025">
              <a:solidFill>
                <a:schemeClr val="dk1"/>
              </a:solidFill>
            </a:endParaRPr>
          </a:p>
        </p:txBody>
      </p:sp>
      <p:sp>
        <p:nvSpPr>
          <p:cNvPr id="101" name="Google Shape;101;p19"/>
          <p:cNvSpPr txBox="1"/>
          <p:nvPr/>
        </p:nvSpPr>
        <p:spPr>
          <a:xfrm>
            <a:off x="405750" y="1017725"/>
            <a:ext cx="8591700" cy="26898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b="1" lang="en-GB" sz="1200">
                <a:solidFill>
                  <a:schemeClr val="dk1"/>
                </a:solidFill>
                <a:highlight>
                  <a:srgbClr val="FFFFFF"/>
                </a:highlight>
                <a:latin typeface="Roboto"/>
                <a:ea typeface="Roboto"/>
                <a:cs typeface="Roboto"/>
                <a:sym typeface="Roboto"/>
              </a:rPr>
              <a:t>Autonomous control</a:t>
            </a:r>
            <a:r>
              <a:rPr lang="en-GB" sz="1200">
                <a:solidFill>
                  <a:schemeClr val="dk1"/>
                </a:solidFill>
                <a:highlight>
                  <a:srgbClr val="FFFFFF"/>
                </a:highlight>
                <a:latin typeface="Roboto"/>
                <a:ea typeface="Roboto"/>
                <a:cs typeface="Roboto"/>
                <a:sym typeface="Roboto"/>
              </a:rPr>
              <a:t> means satisfactory performance under significant uncertainties in the environment and the ability to compensate for system failures without external intervention. This is different from automation, which is often defined as a process or procedure performed with minimal human assistance.</a:t>
            </a:r>
            <a:endParaRPr sz="1200">
              <a:solidFill>
                <a:schemeClr val="dk1"/>
              </a:solidFill>
              <a:highlight>
                <a:srgbClr val="FFFFFF"/>
              </a:highlight>
              <a:latin typeface="Roboto"/>
              <a:ea typeface="Roboto"/>
              <a:cs typeface="Roboto"/>
              <a:sym typeface="Roboto"/>
            </a:endParaRPr>
          </a:p>
          <a:p>
            <a:pPr indent="0" lvl="0" marL="0" rtl="0" algn="l">
              <a:lnSpc>
                <a:spcPct val="143750"/>
              </a:lnSpc>
              <a:spcBef>
                <a:spcPts val="1200"/>
              </a:spcBef>
              <a:spcAft>
                <a:spcPts val="0"/>
              </a:spcAft>
              <a:buNone/>
            </a:pPr>
            <a:r>
              <a:rPr b="1" lang="en-GB" sz="1200">
                <a:solidFill>
                  <a:schemeClr val="dk1"/>
                </a:solidFill>
                <a:highlight>
                  <a:srgbClr val="FFFFFF"/>
                </a:highlight>
                <a:latin typeface="Roboto"/>
                <a:ea typeface="Roboto"/>
                <a:cs typeface="Roboto"/>
                <a:sym typeface="Roboto"/>
              </a:rPr>
              <a:t>Autonomy and automation </a:t>
            </a:r>
            <a:r>
              <a:rPr lang="en-GB" sz="1200">
                <a:solidFill>
                  <a:schemeClr val="dk1"/>
                </a:solidFill>
                <a:highlight>
                  <a:srgbClr val="FFFFFF"/>
                </a:highlight>
                <a:latin typeface="Roboto"/>
                <a:ea typeface="Roboto"/>
                <a:cs typeface="Roboto"/>
                <a:sym typeface="Roboto"/>
              </a:rPr>
              <a:t>go hand-in-hand, boosting one another and providing a fallback for one another. For example, think of a remotely-operated ferry, piloted from shore (this is automation as opposed to autonomy). If communication with shore is lost for some reason, then an autonomous system that will bring the ferry to a safe state is a needed backup.</a:t>
            </a:r>
            <a:endParaRPr sz="1200">
              <a:solidFill>
                <a:schemeClr val="dk1"/>
              </a:solidFill>
              <a:highlight>
                <a:srgbClr val="FFFFFF"/>
              </a:highlight>
              <a:latin typeface="Roboto"/>
              <a:ea typeface="Roboto"/>
              <a:cs typeface="Roboto"/>
              <a:sym typeface="Roboto"/>
            </a:endParaRPr>
          </a:p>
          <a:p>
            <a:pPr indent="0" lvl="0" marL="0" rtl="0" algn="l">
              <a:lnSpc>
                <a:spcPct val="143750"/>
              </a:lnSpc>
              <a:spcBef>
                <a:spcPts val="1200"/>
              </a:spcBef>
              <a:spcAft>
                <a:spcPts val="0"/>
              </a:spcAft>
              <a:buNone/>
            </a:pPr>
            <a:r>
              <a:t/>
            </a:r>
            <a:endParaRPr sz="1200">
              <a:solidFill>
                <a:schemeClr val="dk1"/>
              </a:solidFill>
              <a:highlight>
                <a:srgbClr val="FFFFFF"/>
              </a:highlight>
              <a:latin typeface="Roboto"/>
              <a:ea typeface="Roboto"/>
              <a:cs typeface="Roboto"/>
              <a:sym typeface="Roboto"/>
            </a:endParaRPr>
          </a:p>
          <a:p>
            <a:pPr indent="0" lvl="0" marL="0" rtl="0" algn="l">
              <a:lnSpc>
                <a:spcPct val="143750"/>
              </a:lnSpc>
              <a:spcBef>
                <a:spcPts val="1200"/>
              </a:spcBef>
              <a:spcAft>
                <a:spcPts val="1200"/>
              </a:spcAft>
              <a:buNone/>
            </a:pPr>
            <a:r>
              <a:t/>
            </a:r>
            <a:endParaRPr sz="1200">
              <a:solidFill>
                <a:schemeClr val="dk1"/>
              </a:solidFill>
              <a:highlight>
                <a:srgbClr val="FFFFFF"/>
              </a:highlight>
              <a:latin typeface="Roboto"/>
              <a:ea typeface="Roboto"/>
              <a:cs typeface="Roboto"/>
              <a:sym typeface="Roboto"/>
            </a:endParaRPr>
          </a:p>
        </p:txBody>
      </p:sp>
      <p:pic>
        <p:nvPicPr>
          <p:cNvPr id="102" name="Google Shape;102;p19"/>
          <p:cNvPicPr preferRelativeResize="0"/>
          <p:nvPr/>
        </p:nvPicPr>
        <p:blipFill rotWithShape="1">
          <a:blip r:embed="rId4">
            <a:alphaModFix/>
          </a:blip>
          <a:srcRect b="16881" l="0" r="0" t="0"/>
          <a:stretch/>
        </p:blipFill>
        <p:spPr>
          <a:xfrm>
            <a:off x="4991250" y="2931064"/>
            <a:ext cx="3949901" cy="1842362"/>
          </a:xfrm>
          <a:prstGeom prst="rect">
            <a:avLst/>
          </a:prstGeom>
          <a:noFill/>
          <a:ln>
            <a:noFill/>
          </a:ln>
        </p:spPr>
      </p:pic>
      <p:sp>
        <p:nvSpPr>
          <p:cNvPr id="103" name="Google Shape;103;p19"/>
          <p:cNvSpPr txBox="1"/>
          <p:nvPr/>
        </p:nvSpPr>
        <p:spPr>
          <a:xfrm>
            <a:off x="405750" y="2810825"/>
            <a:ext cx="4585500" cy="19626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b="1" lang="en-GB" sz="1200">
                <a:solidFill>
                  <a:schemeClr val="dk1"/>
                </a:solidFill>
                <a:highlight>
                  <a:srgbClr val="FFFFFF"/>
                </a:highlight>
                <a:latin typeface="Roboto"/>
                <a:ea typeface="Roboto"/>
                <a:cs typeface="Roboto"/>
                <a:sym typeface="Roboto"/>
              </a:rPr>
              <a:t>Advanced automation systems</a:t>
            </a:r>
            <a:r>
              <a:rPr lang="en-GB" sz="1200">
                <a:solidFill>
                  <a:schemeClr val="dk1"/>
                </a:solidFill>
                <a:highlight>
                  <a:srgbClr val="FFFFFF"/>
                </a:highlight>
                <a:latin typeface="Roboto"/>
                <a:ea typeface="Roboto"/>
                <a:cs typeface="Roboto"/>
                <a:sym typeface="Roboto"/>
              </a:rPr>
              <a:t> will become widely available in the near future. These will be automated processes that include a much higher level of self-correction thanks to the addition of sensors and feedback loops. Fully autonomous systems will first emerge in niche areas, especially when safety is not an issue. Such systems are already becoming available in some areas, including mining applications and food delivery.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p:cNvPicPr preferRelativeResize="0"/>
          <p:nvPr/>
        </p:nvPicPr>
        <p:blipFill>
          <a:blip r:embed="rId3">
            <a:alphaModFix/>
          </a:blip>
          <a:stretch>
            <a:fillRect/>
          </a:stretch>
        </p:blipFill>
        <p:spPr>
          <a:xfrm>
            <a:off x="507375" y="2215950"/>
            <a:ext cx="3462549" cy="2391200"/>
          </a:xfrm>
          <a:prstGeom prst="rect">
            <a:avLst/>
          </a:prstGeom>
          <a:noFill/>
          <a:ln>
            <a:noFill/>
          </a:ln>
        </p:spPr>
      </p:pic>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Why the Roomba is a Real Autonomous Robot</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10" name="Google Shape;110;p20"/>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4"/>
              </a:rPr>
              <a:t>https://locusrobotics.com/what-are-autonomous-robots/</a:t>
            </a:r>
            <a:r>
              <a:rPr lang="en-GB" sz="1025">
                <a:solidFill>
                  <a:schemeClr val="dk1"/>
                </a:solidFill>
              </a:rPr>
              <a:t> </a:t>
            </a:r>
            <a:endParaRPr sz="1025">
              <a:solidFill>
                <a:schemeClr val="dk1"/>
              </a:solidFill>
            </a:endParaRPr>
          </a:p>
        </p:txBody>
      </p:sp>
      <p:sp>
        <p:nvSpPr>
          <p:cNvPr id="111" name="Google Shape;111;p20"/>
          <p:cNvSpPr txBox="1"/>
          <p:nvPr/>
        </p:nvSpPr>
        <p:spPr>
          <a:xfrm>
            <a:off x="405750" y="1017725"/>
            <a:ext cx="8236800" cy="14316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1200">
                <a:solidFill>
                  <a:schemeClr val="dk1"/>
                </a:solidFill>
                <a:highlight>
                  <a:srgbClr val="FFFFFF"/>
                </a:highlight>
                <a:latin typeface="Roboto"/>
                <a:ea typeface="Roboto"/>
                <a:cs typeface="Roboto"/>
                <a:sym typeface="Roboto"/>
              </a:rPr>
              <a:t>The Roomba can make decisions and act based on what it perceives in its environment. It can be placed in a room, left alone, and it will do its job without any help or supervision from a person. A set of sensors allows the Roomba to perceive its environment, decide a course of action based on these perceptions, and then take that appropriate action. Simply put, an autonomous robot is one that decides the action it should take on its own based on information it has perceived. </a:t>
            </a:r>
            <a:endParaRPr sz="1200">
              <a:solidFill>
                <a:schemeClr val="dk1"/>
              </a:solidFill>
              <a:highlight>
                <a:srgbClr val="FFFFFF"/>
              </a:highlight>
              <a:latin typeface="Roboto"/>
              <a:ea typeface="Roboto"/>
              <a:cs typeface="Roboto"/>
              <a:sym typeface="Roboto"/>
            </a:endParaRPr>
          </a:p>
        </p:txBody>
      </p:sp>
      <p:pic>
        <p:nvPicPr>
          <p:cNvPr id="112" name="Google Shape;112;p20"/>
          <p:cNvPicPr preferRelativeResize="0"/>
          <p:nvPr/>
        </p:nvPicPr>
        <p:blipFill>
          <a:blip r:embed="rId5">
            <a:alphaModFix/>
          </a:blip>
          <a:stretch>
            <a:fillRect/>
          </a:stretch>
        </p:blipFill>
        <p:spPr>
          <a:xfrm>
            <a:off x="4340375" y="2249037"/>
            <a:ext cx="4302176" cy="23250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Lab Objectives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18" name="Google Shape;118;p21"/>
          <p:cNvSpPr txBox="1"/>
          <p:nvPr/>
        </p:nvSpPr>
        <p:spPr>
          <a:xfrm>
            <a:off x="405750" y="1017725"/>
            <a:ext cx="8236800" cy="26475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lang="en-GB" sz="1200">
                <a:solidFill>
                  <a:schemeClr val="dk1"/>
                </a:solidFill>
                <a:highlight>
                  <a:srgbClr val="FFFFFF"/>
                </a:highlight>
                <a:latin typeface="Roboto"/>
                <a:ea typeface="Roboto"/>
                <a:cs typeface="Roboto"/>
                <a:sym typeface="Roboto"/>
              </a:rPr>
              <a:t>The lab objective is to introduce the development concepts for an autonomous system through hands on experience, while working with an assembled </a:t>
            </a:r>
            <a:r>
              <a:rPr lang="en-GB" sz="1200">
                <a:solidFill>
                  <a:schemeClr val="dk1"/>
                </a:solidFill>
                <a:highlight>
                  <a:srgbClr val="FFFFFF"/>
                </a:highlight>
                <a:latin typeface="Roboto"/>
                <a:ea typeface="Roboto"/>
                <a:cs typeface="Roboto"/>
                <a:sym typeface="Roboto"/>
              </a:rPr>
              <a:t>platform</a:t>
            </a:r>
            <a:r>
              <a:rPr lang="en-GB" sz="1200">
                <a:solidFill>
                  <a:schemeClr val="dk1"/>
                </a:solidFill>
                <a:highlight>
                  <a:srgbClr val="FFFFFF"/>
                </a:highlight>
                <a:latin typeface="Roboto"/>
                <a:ea typeface="Roboto"/>
                <a:cs typeface="Roboto"/>
                <a:sym typeface="Roboto"/>
              </a:rPr>
              <a:t> capable for autonomous behaviour, including: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Getting</a:t>
            </a:r>
            <a:r>
              <a:rPr lang="en-GB" sz="1200">
                <a:solidFill>
                  <a:schemeClr val="dk1"/>
                </a:solidFill>
                <a:highlight>
                  <a:srgbClr val="FFFFFF"/>
                </a:highlight>
                <a:latin typeface="Roboto"/>
                <a:ea typeface="Roboto"/>
                <a:cs typeface="Roboto"/>
                <a:sym typeface="Roboto"/>
              </a:rPr>
              <a:t> familiar with various sensors: Encoder, </a:t>
            </a:r>
            <a:r>
              <a:rPr lang="en-GB" sz="1200">
                <a:solidFill>
                  <a:schemeClr val="dk1"/>
                </a:solidFill>
                <a:highlight>
                  <a:srgbClr val="FFFFFF"/>
                </a:highlight>
                <a:latin typeface="Roboto"/>
                <a:ea typeface="Roboto"/>
                <a:cs typeface="Roboto"/>
                <a:sym typeface="Roboto"/>
              </a:rPr>
              <a:t>Camera, InfraRed distance, Accelerometer, Gyro, Magnomenter</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Writing and executing programs using C++ (Arduino) and python (Raspberry Pi)</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Analyzing sensor data</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Implementing sensor fusion</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Applying control algorithms and tuning </a:t>
            </a:r>
            <a:r>
              <a:rPr lang="en-GB" sz="1200">
                <a:solidFill>
                  <a:schemeClr val="dk1"/>
                </a:solidFill>
                <a:highlight>
                  <a:srgbClr val="FFFFFF"/>
                </a:highlight>
                <a:latin typeface="Roboto"/>
                <a:ea typeface="Roboto"/>
                <a:cs typeface="Roboto"/>
                <a:sym typeface="Roboto"/>
              </a:rPr>
              <a:t>parameters</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Introduction to various </a:t>
            </a:r>
            <a:r>
              <a:rPr lang="en-GB" sz="1200">
                <a:solidFill>
                  <a:srgbClr val="202124"/>
                </a:solidFill>
                <a:highlight>
                  <a:srgbClr val="FFFFFF"/>
                </a:highlight>
              </a:rPr>
              <a:t>development </a:t>
            </a:r>
            <a:r>
              <a:rPr lang="en-GB" sz="1200">
                <a:solidFill>
                  <a:schemeClr val="dk1"/>
                </a:solidFill>
                <a:highlight>
                  <a:srgbClr val="FFFFFF"/>
                </a:highlight>
                <a:latin typeface="Roboto"/>
                <a:ea typeface="Roboto"/>
                <a:cs typeface="Roboto"/>
                <a:sym typeface="Roboto"/>
              </a:rPr>
              <a:t>environments: VS Code, Arduino, Secure Shell (SSH)</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Developing autonomous algorithms</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Final Project - Semester B 2025</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24" name="Google Shape;124;p22"/>
          <p:cNvSpPr txBox="1"/>
          <p:nvPr/>
        </p:nvSpPr>
        <p:spPr>
          <a:xfrm>
            <a:off x="405750" y="1017725"/>
            <a:ext cx="8236800" cy="3693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1200" u="sng">
                <a:solidFill>
                  <a:schemeClr val="hlink"/>
                </a:solidFill>
                <a:highlight>
                  <a:srgbClr val="FFFFFF"/>
                </a:highlight>
                <a:latin typeface="Roboto"/>
                <a:ea typeface="Roboto"/>
                <a:cs typeface="Roboto"/>
                <a:sym typeface="Roboto"/>
                <a:hlinkClick r:id="rId3"/>
              </a:rPr>
              <a:t>The final project for this semester is: Line Following / Path Control</a:t>
            </a:r>
            <a:endParaRPr sz="1200">
              <a:solidFill>
                <a:schemeClr val="dk1"/>
              </a:solidFill>
              <a:highlight>
                <a:srgbClr val="FFFFFF"/>
              </a:highlight>
              <a:latin typeface="Roboto"/>
              <a:ea typeface="Roboto"/>
              <a:cs typeface="Roboto"/>
              <a:sym typeface="Roboto"/>
            </a:endParaRPr>
          </a:p>
        </p:txBody>
      </p:sp>
      <p:pic>
        <p:nvPicPr>
          <p:cNvPr id="125" name="Google Shape;125;p22"/>
          <p:cNvPicPr preferRelativeResize="0"/>
          <p:nvPr/>
        </p:nvPicPr>
        <p:blipFill>
          <a:blip r:embed="rId4">
            <a:alphaModFix/>
          </a:blip>
          <a:stretch>
            <a:fillRect/>
          </a:stretch>
        </p:blipFill>
        <p:spPr>
          <a:xfrm>
            <a:off x="1551783" y="1539425"/>
            <a:ext cx="6040433" cy="34516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ZumoPi - </a:t>
            </a:r>
            <a:r>
              <a:rPr b="1" lang="en-GB" sz="2250">
                <a:solidFill>
                  <a:srgbClr val="741B47"/>
                </a:solidFill>
                <a:highlight>
                  <a:srgbClr val="F9F9FA"/>
                </a:highlight>
                <a:latin typeface="Roboto"/>
                <a:ea typeface="Roboto"/>
                <a:cs typeface="Roboto"/>
                <a:sym typeface="Roboto"/>
              </a:rPr>
              <a:t>Rover Platform</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31" name="Google Shape;131;p23"/>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https://github.com/TALs-Education/ZumoPi</a:t>
            </a:r>
            <a:r>
              <a:rPr lang="en-GB" sz="1025">
                <a:solidFill>
                  <a:schemeClr val="dk1"/>
                </a:solidFill>
              </a:rPr>
              <a:t>  </a:t>
            </a:r>
            <a:endParaRPr sz="1025">
              <a:solidFill>
                <a:schemeClr val="dk1"/>
              </a:solidFill>
            </a:endParaRPr>
          </a:p>
        </p:txBody>
      </p:sp>
      <p:pic>
        <p:nvPicPr>
          <p:cNvPr id="132" name="Google Shape;132;p23"/>
          <p:cNvPicPr preferRelativeResize="0"/>
          <p:nvPr/>
        </p:nvPicPr>
        <p:blipFill rotWithShape="1">
          <a:blip r:embed="rId4">
            <a:alphaModFix/>
          </a:blip>
          <a:srcRect b="7013" l="6743" r="0" t="8897"/>
          <a:stretch/>
        </p:blipFill>
        <p:spPr>
          <a:xfrm>
            <a:off x="406500" y="1269925"/>
            <a:ext cx="3903125" cy="3500124"/>
          </a:xfrm>
          <a:prstGeom prst="rect">
            <a:avLst/>
          </a:prstGeom>
          <a:noFill/>
          <a:ln>
            <a:noFill/>
          </a:ln>
        </p:spPr>
      </p:pic>
      <p:sp>
        <p:nvSpPr>
          <p:cNvPr id="133" name="Google Shape;133;p23"/>
          <p:cNvSpPr txBox="1"/>
          <p:nvPr/>
        </p:nvSpPr>
        <p:spPr>
          <a:xfrm>
            <a:off x="406500" y="941775"/>
            <a:ext cx="8331000" cy="3693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1200">
                <a:solidFill>
                  <a:schemeClr val="dk1"/>
                </a:solidFill>
                <a:highlight>
                  <a:srgbClr val="FFFFFF"/>
                </a:highlight>
                <a:latin typeface="Roboto"/>
                <a:ea typeface="Roboto"/>
                <a:cs typeface="Roboto"/>
                <a:sym typeface="Roboto"/>
              </a:rPr>
              <a:t>The ZumoPi</a:t>
            </a:r>
            <a:r>
              <a:rPr lang="en-GB" sz="1200">
                <a:solidFill>
                  <a:schemeClr val="dk1"/>
                </a:solidFill>
                <a:highlight>
                  <a:srgbClr val="FFFFFF"/>
                </a:highlight>
                <a:latin typeface="Roboto"/>
                <a:ea typeface="Roboto"/>
                <a:cs typeface="Roboto"/>
                <a:sym typeface="Roboto"/>
              </a:rPr>
              <a:t> platform is based on the Zumo platform by Pololu with an addition of a Raspberry Pi 5 PC</a:t>
            </a:r>
            <a:endParaRPr/>
          </a:p>
        </p:txBody>
      </p:sp>
      <p:pic>
        <p:nvPicPr>
          <p:cNvPr id="134" name="Google Shape;134;p23"/>
          <p:cNvPicPr preferRelativeResize="0"/>
          <p:nvPr/>
        </p:nvPicPr>
        <p:blipFill>
          <a:blip r:embed="rId5">
            <a:alphaModFix/>
          </a:blip>
          <a:stretch>
            <a:fillRect/>
          </a:stretch>
        </p:blipFill>
        <p:spPr>
          <a:xfrm>
            <a:off x="4401050" y="1316713"/>
            <a:ext cx="4180197" cy="34065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ZumoPi</a:t>
            </a:r>
            <a:r>
              <a:rPr b="1" lang="en-GB" sz="2250">
                <a:solidFill>
                  <a:srgbClr val="741B47"/>
                </a:solidFill>
                <a:highlight>
                  <a:srgbClr val="F9F9FA"/>
                </a:highlight>
                <a:latin typeface="Roboto"/>
                <a:ea typeface="Roboto"/>
                <a:cs typeface="Roboto"/>
                <a:sym typeface="Roboto"/>
              </a:rPr>
              <a:t> Main Components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pic>
        <p:nvPicPr>
          <p:cNvPr id="140" name="Google Shape;140;p24"/>
          <p:cNvPicPr preferRelativeResize="0"/>
          <p:nvPr/>
        </p:nvPicPr>
        <p:blipFill>
          <a:blip r:embed="rId3">
            <a:alphaModFix/>
          </a:blip>
          <a:stretch>
            <a:fillRect/>
          </a:stretch>
        </p:blipFill>
        <p:spPr>
          <a:xfrm>
            <a:off x="4852843" y="1067488"/>
            <a:ext cx="3916482" cy="3590111"/>
          </a:xfrm>
          <a:prstGeom prst="rect">
            <a:avLst/>
          </a:prstGeom>
          <a:noFill/>
          <a:ln>
            <a:noFill/>
          </a:ln>
        </p:spPr>
      </p:pic>
      <p:sp>
        <p:nvSpPr>
          <p:cNvPr id="141" name="Google Shape;141;p24"/>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4"/>
              </a:rPr>
              <a:t>https://www.raspberrypi.org/</a:t>
            </a:r>
            <a:r>
              <a:rPr lang="en-GB" sz="1025">
                <a:solidFill>
                  <a:schemeClr val="dk1"/>
                </a:solidFill>
              </a:rPr>
              <a:t>  						</a:t>
            </a:r>
            <a:r>
              <a:rPr b="1" lang="en-GB" sz="1025">
                <a:solidFill>
                  <a:schemeClr val="dk1"/>
                </a:solidFill>
              </a:rPr>
              <a:t>By:</a:t>
            </a:r>
            <a:r>
              <a:rPr lang="en-GB" sz="1025">
                <a:solidFill>
                  <a:schemeClr val="dk1"/>
                </a:solidFill>
              </a:rPr>
              <a:t> </a:t>
            </a:r>
            <a:r>
              <a:rPr lang="en-GB" sz="1025" u="sng">
                <a:solidFill>
                  <a:schemeClr val="hlink"/>
                </a:solidFill>
                <a:hlinkClick r:id="rId5"/>
              </a:rPr>
              <a:t>https://www.pololu.com/product/5012</a:t>
            </a:r>
            <a:r>
              <a:rPr lang="en-GB" sz="1025">
                <a:solidFill>
                  <a:schemeClr val="dk1"/>
                </a:solidFill>
              </a:rPr>
              <a:t>  </a:t>
            </a:r>
            <a:endParaRPr sz="1025">
              <a:solidFill>
                <a:schemeClr val="dk1"/>
              </a:solidFill>
            </a:endParaRPr>
          </a:p>
        </p:txBody>
      </p:sp>
      <p:pic>
        <p:nvPicPr>
          <p:cNvPr id="142" name="Google Shape;142;p24"/>
          <p:cNvPicPr preferRelativeResize="0"/>
          <p:nvPr/>
        </p:nvPicPr>
        <p:blipFill>
          <a:blip r:embed="rId6">
            <a:alphaModFix/>
          </a:blip>
          <a:stretch>
            <a:fillRect/>
          </a:stretch>
        </p:blipFill>
        <p:spPr>
          <a:xfrm>
            <a:off x="311700" y="1632600"/>
            <a:ext cx="4158001" cy="2475867"/>
          </a:xfrm>
          <a:prstGeom prst="rect">
            <a:avLst/>
          </a:prstGeom>
          <a:noFill/>
          <a:ln>
            <a:noFill/>
          </a:ln>
        </p:spPr>
      </p:pic>
      <p:sp>
        <p:nvSpPr>
          <p:cNvPr id="143" name="Google Shape;143;p24"/>
          <p:cNvSpPr txBox="1"/>
          <p:nvPr/>
        </p:nvSpPr>
        <p:spPr>
          <a:xfrm>
            <a:off x="278200" y="974275"/>
            <a:ext cx="8331000" cy="504900"/>
          </a:xfrm>
          <a:prstGeom prst="rect">
            <a:avLst/>
          </a:prstGeom>
          <a:noFill/>
          <a:ln>
            <a:noFill/>
          </a:ln>
        </p:spPr>
        <p:txBody>
          <a:bodyPr anchorCtr="0" anchor="t" bIns="54000" lIns="91425" spcFirstLastPara="1" rIns="91425" wrap="square" tIns="0">
            <a:spAutoFit/>
          </a:bodyPr>
          <a:lstStyle/>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Raspberry Pi 5 - CM2712 quad-core Arm Cortex A76 processor @ 2.4GHz</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Zumo - RP2040 Dual ARM Cortex-M0+ cores </a:t>
            </a:r>
            <a:r>
              <a:rPr lang="en-GB" sz="1200">
                <a:solidFill>
                  <a:schemeClr val="dk1"/>
                </a:solidFill>
                <a:highlight>
                  <a:schemeClr val="lt1"/>
                </a:highlight>
                <a:latin typeface="Roboto"/>
                <a:ea typeface="Roboto"/>
                <a:cs typeface="Roboto"/>
                <a:sym typeface="Roboto"/>
              </a:rPr>
              <a:t>@ </a:t>
            </a:r>
            <a:r>
              <a:rPr lang="en-GB" sz="1200">
                <a:solidFill>
                  <a:schemeClr val="dk1"/>
                </a:solidFill>
                <a:highlight>
                  <a:srgbClr val="FFFFFF"/>
                </a:highlight>
                <a:latin typeface="Roboto"/>
                <a:ea typeface="Roboto"/>
                <a:cs typeface="Roboto"/>
                <a:sym typeface="Roboto"/>
              </a:rPr>
              <a:t>133 MHz</a:t>
            </a:r>
            <a:endParaRPr sz="1200">
              <a:solidFill>
                <a:schemeClr val="dk1"/>
              </a:solidFill>
              <a:highlight>
                <a:srgbClr val="FFFFFF"/>
              </a:highlight>
              <a:latin typeface="Roboto"/>
              <a:ea typeface="Roboto"/>
              <a:cs typeface="Roboto"/>
              <a:sym typeface="Roboto"/>
            </a:endParaRPr>
          </a:p>
        </p:txBody>
      </p:sp>
      <p:sp>
        <p:nvSpPr>
          <p:cNvPr id="144" name="Google Shape;144;p24"/>
          <p:cNvSpPr txBox="1"/>
          <p:nvPr/>
        </p:nvSpPr>
        <p:spPr>
          <a:xfrm>
            <a:off x="1245700" y="147917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b="1" lang="en-GB" sz="1200">
                <a:solidFill>
                  <a:srgbClr val="0000FF"/>
                </a:solidFill>
                <a:highlight>
                  <a:schemeClr val="lt1"/>
                </a:highlight>
                <a:latin typeface="Comic Sans MS"/>
                <a:ea typeface="Comic Sans MS"/>
                <a:cs typeface="Comic Sans MS"/>
                <a:sym typeface="Comic Sans MS"/>
              </a:rPr>
              <a:t>Linux - Python 3</a:t>
            </a:r>
            <a:endParaRPr sz="1200">
              <a:solidFill>
                <a:schemeClr val="dk1"/>
              </a:solidFill>
              <a:highlight>
                <a:schemeClr val="lt1"/>
              </a:highlight>
              <a:latin typeface="Roboto"/>
              <a:ea typeface="Roboto"/>
              <a:cs typeface="Roboto"/>
              <a:sym typeface="Roboto"/>
            </a:endParaRPr>
          </a:p>
        </p:txBody>
      </p:sp>
      <p:sp>
        <p:nvSpPr>
          <p:cNvPr id="145" name="Google Shape;145;p24"/>
          <p:cNvSpPr txBox="1"/>
          <p:nvPr/>
        </p:nvSpPr>
        <p:spPr>
          <a:xfrm>
            <a:off x="6205238" y="783925"/>
            <a:ext cx="1211700" cy="3693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b="1" lang="en-GB" sz="1200">
                <a:solidFill>
                  <a:srgbClr val="0000FF"/>
                </a:solidFill>
                <a:highlight>
                  <a:schemeClr val="lt1"/>
                </a:highlight>
                <a:latin typeface="Comic Sans MS"/>
                <a:ea typeface="Comic Sans MS"/>
                <a:cs typeface="Comic Sans MS"/>
                <a:sym typeface="Comic Sans MS"/>
              </a:rPr>
              <a:t>C++ (Arduino)</a:t>
            </a:r>
            <a:endParaRPr b="1">
              <a:solidFill>
                <a:srgbClr val="0000FF"/>
              </a:solidFill>
              <a:latin typeface="Comic Sans MS"/>
              <a:ea typeface="Comic Sans MS"/>
              <a:cs typeface="Comic Sans MS"/>
              <a:sym typeface="Comic Sans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Development</a:t>
            </a:r>
            <a:r>
              <a:rPr b="1" lang="en-GB" sz="2250">
                <a:solidFill>
                  <a:srgbClr val="741B47"/>
                </a:solidFill>
                <a:highlight>
                  <a:srgbClr val="F9F9FA"/>
                </a:highlight>
                <a:latin typeface="Roboto"/>
                <a:ea typeface="Roboto"/>
                <a:cs typeface="Roboto"/>
                <a:sym typeface="Roboto"/>
              </a:rPr>
              <a:t> </a:t>
            </a:r>
            <a:r>
              <a:rPr b="1" lang="en-GB" sz="2250">
                <a:solidFill>
                  <a:srgbClr val="741B47"/>
                </a:solidFill>
                <a:highlight>
                  <a:srgbClr val="F9F9FA"/>
                </a:highlight>
                <a:latin typeface="Roboto"/>
                <a:ea typeface="Roboto"/>
                <a:cs typeface="Roboto"/>
                <a:sym typeface="Roboto"/>
              </a:rPr>
              <a:t>Environments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51" name="Google Shape;151;p25"/>
          <p:cNvSpPr txBox="1"/>
          <p:nvPr/>
        </p:nvSpPr>
        <p:spPr>
          <a:xfrm>
            <a:off x="405750" y="1017725"/>
            <a:ext cx="8236800" cy="29553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MobaXterm - </a:t>
            </a:r>
            <a:r>
              <a:rPr lang="en-GB" sz="1200">
                <a:solidFill>
                  <a:schemeClr val="dk1"/>
                </a:solidFill>
                <a:highlight>
                  <a:schemeClr val="lt1"/>
                </a:highlight>
                <a:latin typeface="Roboto"/>
                <a:ea typeface="Roboto"/>
                <a:cs typeface="Roboto"/>
                <a:sym typeface="Roboto"/>
              </a:rPr>
              <a:t>SSH				</a:t>
            </a:r>
            <a:r>
              <a:rPr lang="en-GB" sz="1200" u="sng">
                <a:solidFill>
                  <a:schemeClr val="hlink"/>
                </a:solidFill>
                <a:highlight>
                  <a:schemeClr val="lt1"/>
                </a:highlight>
                <a:latin typeface="Roboto"/>
                <a:ea typeface="Roboto"/>
                <a:cs typeface="Roboto"/>
                <a:sym typeface="Roboto"/>
                <a:hlinkClick r:id="rId3"/>
              </a:rPr>
              <a:t>https://mobaxterm.mobatek.net/</a:t>
            </a:r>
            <a:r>
              <a:rPr lang="en-GB" sz="1200">
                <a:solidFill>
                  <a:schemeClr val="dk1"/>
                </a:solidFill>
                <a:highlight>
                  <a:schemeClr val="lt1"/>
                </a:highlight>
                <a:latin typeface="Roboto"/>
                <a:ea typeface="Roboto"/>
                <a:cs typeface="Roboto"/>
                <a:sym typeface="Roboto"/>
              </a:rPr>
              <a:t>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Arduino - C++				</a:t>
            </a:r>
            <a:r>
              <a:rPr lang="en-GB" sz="1200" u="sng">
                <a:solidFill>
                  <a:schemeClr val="hlink"/>
                </a:solidFill>
                <a:highlight>
                  <a:srgbClr val="FFFFFF"/>
                </a:highlight>
                <a:latin typeface="Roboto"/>
                <a:ea typeface="Roboto"/>
                <a:cs typeface="Roboto"/>
                <a:sym typeface="Roboto"/>
                <a:hlinkClick r:id="rId4"/>
              </a:rPr>
              <a:t>https://www.arduino.cc/</a:t>
            </a:r>
            <a:r>
              <a:rPr lang="en-GB" sz="1200">
                <a:solidFill>
                  <a:schemeClr val="dk1"/>
                </a:solidFill>
                <a:highlight>
                  <a:srgbClr val="FFFFFF"/>
                </a:highlight>
                <a:latin typeface="Roboto"/>
                <a:ea typeface="Roboto"/>
                <a:cs typeface="Roboto"/>
                <a:sym typeface="Roboto"/>
              </a:rPr>
              <a:t>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VS Code  - Python, C++			</a:t>
            </a:r>
            <a:r>
              <a:rPr lang="en-GB" sz="1200" u="sng">
                <a:solidFill>
                  <a:schemeClr val="hlink"/>
                </a:solidFill>
                <a:highlight>
                  <a:srgbClr val="FFFFFF"/>
                </a:highlight>
                <a:latin typeface="Roboto"/>
                <a:ea typeface="Roboto"/>
                <a:cs typeface="Roboto"/>
                <a:sym typeface="Roboto"/>
                <a:hlinkClick r:id="rId5"/>
              </a:rPr>
              <a:t>https://code.visualstudio.com/</a:t>
            </a:r>
            <a:r>
              <a:rPr lang="en-GB" sz="1200">
                <a:solidFill>
                  <a:schemeClr val="dk1"/>
                </a:solidFill>
                <a:highlight>
                  <a:srgbClr val="FFFFFF"/>
                </a:highlight>
                <a:latin typeface="Roboto"/>
                <a:ea typeface="Roboto"/>
                <a:cs typeface="Roboto"/>
                <a:sym typeface="Roboto"/>
              </a:rPr>
              <a:t>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VNC (Virtual Network Computing)		</a:t>
            </a:r>
            <a:r>
              <a:rPr lang="en-GB" sz="1200" u="sng">
                <a:solidFill>
                  <a:schemeClr val="hlink"/>
                </a:solidFill>
                <a:highlight>
                  <a:srgbClr val="FFFFFF"/>
                </a:highlight>
                <a:latin typeface="Roboto"/>
                <a:ea typeface="Roboto"/>
                <a:cs typeface="Roboto"/>
                <a:sym typeface="Roboto"/>
                <a:hlinkClick r:id="rId6"/>
              </a:rPr>
              <a:t>https://www.realvnc.com/en/</a:t>
            </a:r>
            <a:r>
              <a:rPr lang="en-GB" sz="1200">
                <a:solidFill>
                  <a:schemeClr val="dk1"/>
                </a:solidFill>
                <a:highlight>
                  <a:srgbClr val="FFFFFF"/>
                </a:highlight>
                <a:latin typeface="Roboto"/>
                <a:ea typeface="Roboto"/>
                <a:cs typeface="Roboto"/>
                <a:sym typeface="Roboto"/>
              </a:rPr>
              <a:t>  </a:t>
            </a:r>
            <a:r>
              <a:rPr lang="en-GB" sz="1200">
                <a:solidFill>
                  <a:schemeClr val="dk1"/>
                </a:solidFill>
                <a:highlight>
                  <a:schemeClr val="lt1"/>
                </a:highlight>
                <a:latin typeface="Roboto"/>
                <a:ea typeface="Roboto"/>
                <a:cs typeface="Roboto"/>
                <a:sym typeface="Roboto"/>
              </a:rPr>
              <a:t>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Python					</a:t>
            </a:r>
            <a:r>
              <a:rPr lang="en-GB" sz="1200" u="sng">
                <a:solidFill>
                  <a:schemeClr val="hlink"/>
                </a:solidFill>
                <a:highlight>
                  <a:srgbClr val="FFFFFF"/>
                </a:highlight>
                <a:latin typeface="Roboto"/>
                <a:ea typeface="Roboto"/>
                <a:cs typeface="Roboto"/>
                <a:sym typeface="Roboto"/>
                <a:hlinkClick r:id="rId7"/>
              </a:rPr>
              <a:t>https://www.python.org/</a:t>
            </a:r>
            <a:r>
              <a:rPr lang="en-GB" sz="1200">
                <a:solidFill>
                  <a:schemeClr val="dk1"/>
                </a:solidFill>
                <a:highlight>
                  <a:srgbClr val="FFFFFF"/>
                </a:highlight>
                <a:latin typeface="Roboto"/>
                <a:ea typeface="Roboto"/>
                <a:cs typeface="Roboto"/>
                <a:sym typeface="Roboto"/>
              </a:rPr>
              <a:t>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Web Browser (User interface)</a:t>
            </a:r>
            <a:endParaRPr sz="1200">
              <a:solidFill>
                <a:schemeClr val="dk1"/>
              </a:solidFill>
              <a:highlight>
                <a:srgbClr val="FFFFFF"/>
              </a:highlight>
              <a:latin typeface="Roboto"/>
              <a:ea typeface="Roboto"/>
              <a:cs typeface="Roboto"/>
              <a:sym typeface="Roboto"/>
            </a:endParaRPr>
          </a:p>
          <a:p>
            <a:pPr indent="0" lvl="0" marL="457200" rtl="0" algn="l">
              <a:lnSpc>
                <a:spcPct val="143750"/>
              </a:lnSpc>
              <a:spcBef>
                <a:spcPts val="1200"/>
              </a:spcBef>
              <a:spcAft>
                <a:spcPts val="0"/>
              </a:spcAft>
              <a:buNone/>
            </a:pPr>
            <a:r>
              <a:rPr lang="en-GB" sz="1200">
                <a:solidFill>
                  <a:schemeClr val="dk1"/>
                </a:solidFill>
                <a:highlight>
                  <a:srgbClr val="FFFFFF"/>
                </a:highlight>
                <a:latin typeface="Roboto"/>
                <a:ea typeface="Roboto"/>
                <a:cs typeface="Roboto"/>
                <a:sym typeface="Roboto"/>
              </a:rPr>
              <a:t>	</a:t>
            </a:r>
            <a:endParaRPr sz="1200">
              <a:solidFill>
                <a:schemeClr val="dk1"/>
              </a:solidFill>
              <a:highlight>
                <a:srgbClr val="FFFFFF"/>
              </a:highlight>
              <a:latin typeface="Roboto"/>
              <a:ea typeface="Roboto"/>
              <a:cs typeface="Roboto"/>
              <a:sym typeface="Roboto"/>
            </a:endParaRPr>
          </a:p>
          <a:p>
            <a:pPr indent="0" lvl="0" marL="457200" rtl="0" algn="l">
              <a:lnSpc>
                <a:spcPct val="143750"/>
              </a:lnSpc>
              <a:spcBef>
                <a:spcPts val="1200"/>
              </a:spcBef>
              <a:spcAft>
                <a:spcPts val="0"/>
              </a:spcAft>
              <a:buNone/>
            </a:pPr>
            <a:r>
              <a:t/>
            </a:r>
            <a:endParaRPr sz="1200">
              <a:solidFill>
                <a:schemeClr val="dk1"/>
              </a:solidFill>
              <a:highlight>
                <a:srgbClr val="FFFFFF"/>
              </a:highlight>
              <a:latin typeface="Roboto"/>
              <a:ea typeface="Roboto"/>
              <a:cs typeface="Roboto"/>
              <a:sym typeface="Roboto"/>
            </a:endParaRPr>
          </a:p>
          <a:p>
            <a:pPr indent="0" lvl="0" marL="0" rtl="0" algn="l">
              <a:lnSpc>
                <a:spcPct val="143750"/>
              </a:lnSpc>
              <a:spcBef>
                <a:spcPts val="1200"/>
              </a:spcBef>
              <a:spcAft>
                <a:spcPts val="1200"/>
              </a:spcAft>
              <a:buNone/>
            </a:pPr>
            <a:r>
              <a:t/>
            </a:r>
            <a:endParaRPr sz="1200">
              <a:solidFill>
                <a:schemeClr val="dk1"/>
              </a:solidFill>
              <a:highlight>
                <a:srgbClr val="FFFFFF"/>
              </a:highlight>
              <a:latin typeface="Roboto"/>
              <a:ea typeface="Roboto"/>
              <a:cs typeface="Roboto"/>
              <a:sym typeface="Roboto"/>
            </a:endParaRPr>
          </a:p>
        </p:txBody>
      </p:sp>
      <p:pic>
        <p:nvPicPr>
          <p:cNvPr id="152" name="Google Shape;152;p25"/>
          <p:cNvPicPr preferRelativeResize="0"/>
          <p:nvPr/>
        </p:nvPicPr>
        <p:blipFill>
          <a:blip r:embed="rId8">
            <a:alphaModFix/>
          </a:blip>
          <a:stretch>
            <a:fillRect/>
          </a:stretch>
        </p:blipFill>
        <p:spPr>
          <a:xfrm>
            <a:off x="6032673" y="619000"/>
            <a:ext cx="2916902" cy="1952750"/>
          </a:xfrm>
          <a:prstGeom prst="rect">
            <a:avLst/>
          </a:prstGeom>
          <a:noFill/>
          <a:ln>
            <a:noFill/>
          </a:ln>
        </p:spPr>
      </p:pic>
      <p:pic>
        <p:nvPicPr>
          <p:cNvPr id="153" name="Google Shape;153;p25"/>
          <p:cNvPicPr preferRelativeResize="0"/>
          <p:nvPr/>
        </p:nvPicPr>
        <p:blipFill>
          <a:blip r:embed="rId9">
            <a:alphaModFix/>
          </a:blip>
          <a:stretch>
            <a:fillRect/>
          </a:stretch>
        </p:blipFill>
        <p:spPr>
          <a:xfrm>
            <a:off x="3810525" y="2707350"/>
            <a:ext cx="5139051" cy="2110150"/>
          </a:xfrm>
          <a:prstGeom prst="rect">
            <a:avLst/>
          </a:prstGeom>
          <a:noFill/>
          <a:ln>
            <a:noFill/>
          </a:ln>
        </p:spPr>
      </p:pic>
      <p:pic>
        <p:nvPicPr>
          <p:cNvPr id="154" name="Google Shape;154;p25"/>
          <p:cNvPicPr preferRelativeResize="0"/>
          <p:nvPr/>
        </p:nvPicPr>
        <p:blipFill>
          <a:blip r:embed="rId10">
            <a:alphaModFix/>
          </a:blip>
          <a:stretch>
            <a:fillRect/>
          </a:stretch>
        </p:blipFill>
        <p:spPr>
          <a:xfrm>
            <a:off x="311689" y="2707350"/>
            <a:ext cx="3283610" cy="21101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 Practice 0 - Turn On the ZumoPi V02 Platform</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sz="1400">
              <a:solidFill>
                <a:srgbClr val="000000"/>
              </a:solidFill>
            </a:endParaRPr>
          </a:p>
          <a:p>
            <a:pPr indent="0" lvl="0" marL="0" rtl="0" algn="l">
              <a:spcBef>
                <a:spcPts val="0"/>
              </a:spcBef>
              <a:spcAft>
                <a:spcPts val="0"/>
              </a:spcAft>
              <a:buNone/>
            </a:pPr>
            <a:r>
              <a:t/>
            </a:r>
            <a:endParaRPr/>
          </a:p>
        </p:txBody>
      </p:sp>
      <p:sp>
        <p:nvSpPr>
          <p:cNvPr id="160" name="Google Shape;160;p26"/>
          <p:cNvSpPr txBox="1"/>
          <p:nvPr>
            <p:ph idx="1" type="body"/>
          </p:nvPr>
        </p:nvSpPr>
        <p:spPr>
          <a:xfrm>
            <a:off x="311700" y="1152475"/>
            <a:ext cx="4392900" cy="1849200"/>
          </a:xfrm>
          <a:prstGeom prst="rect">
            <a:avLst/>
          </a:prstGeom>
        </p:spPr>
        <p:txBody>
          <a:bodyPr anchorCtr="0" anchor="t" bIns="91425" lIns="91425" spcFirstLastPara="1" rIns="91425" wrap="square" tIns="91425">
            <a:normAutofit/>
          </a:bodyPr>
          <a:lstStyle/>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Turn on the platform by pressing the On/Off button</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Press the Reset Button on the zumoPiV 02 	(required after boot)</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Turn on the power slide on the zumo Platform</a:t>
            </a:r>
            <a:endParaRPr sz="1426">
              <a:solidFill>
                <a:schemeClr val="dk1"/>
              </a:solidFill>
              <a:highlight>
                <a:schemeClr val="lt1"/>
              </a:highlight>
              <a:latin typeface="Roboto"/>
              <a:ea typeface="Roboto"/>
              <a:cs typeface="Roboto"/>
              <a:sym typeface="Roboto"/>
            </a:endParaRPr>
          </a:p>
          <a:p>
            <a:pPr indent="0" lvl="0" marL="0" rtl="0" algn="l">
              <a:lnSpc>
                <a:spcPct val="143750"/>
              </a:lnSpc>
              <a:spcBef>
                <a:spcPts val="1200"/>
              </a:spcBef>
              <a:spcAft>
                <a:spcPts val="1200"/>
              </a:spcAft>
              <a:buNone/>
            </a:pPr>
            <a:r>
              <a:rPr lang="en-GB" sz="900">
                <a:solidFill>
                  <a:schemeClr val="dk1"/>
                </a:solidFill>
                <a:highlight>
                  <a:schemeClr val="lt1"/>
                </a:highlight>
                <a:latin typeface="Roboto"/>
                <a:ea typeface="Roboto"/>
                <a:cs typeface="Roboto"/>
                <a:sym typeface="Roboto"/>
              </a:rPr>
              <a:t>The ZumoPi V02 has a built in auto shutdown after 3 hours.</a:t>
            </a:r>
            <a:endParaRPr sz="900"/>
          </a:p>
        </p:txBody>
      </p:sp>
      <p:pic>
        <p:nvPicPr>
          <p:cNvPr id="161" name="Google Shape;161;p26"/>
          <p:cNvPicPr preferRelativeResize="0"/>
          <p:nvPr/>
        </p:nvPicPr>
        <p:blipFill>
          <a:blip r:embed="rId3">
            <a:alphaModFix/>
          </a:blip>
          <a:stretch>
            <a:fillRect/>
          </a:stretch>
        </p:blipFill>
        <p:spPr>
          <a:xfrm>
            <a:off x="4627800" y="932725"/>
            <a:ext cx="4204500" cy="3857626"/>
          </a:xfrm>
          <a:prstGeom prst="rect">
            <a:avLst/>
          </a:prstGeom>
          <a:noFill/>
          <a:ln>
            <a:noFill/>
          </a:ln>
        </p:spPr>
      </p:pic>
      <p:sp>
        <p:nvSpPr>
          <p:cNvPr id="162" name="Google Shape;162;p26"/>
          <p:cNvSpPr/>
          <p:nvPr/>
        </p:nvSpPr>
        <p:spPr>
          <a:xfrm>
            <a:off x="7184175" y="3190150"/>
            <a:ext cx="640200" cy="279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t>Reset</a:t>
            </a:r>
            <a:endParaRPr b="1" sz="1100"/>
          </a:p>
        </p:txBody>
      </p:sp>
      <p:sp>
        <p:nvSpPr>
          <p:cNvPr id="163" name="Google Shape;163;p26"/>
          <p:cNvSpPr/>
          <p:nvPr/>
        </p:nvSpPr>
        <p:spPr>
          <a:xfrm>
            <a:off x="7241325" y="3435875"/>
            <a:ext cx="525900" cy="520200"/>
          </a:xfrm>
          <a:prstGeom prst="ellipse">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4" name="Google Shape;164;p26"/>
          <p:cNvPicPr preferRelativeResize="0"/>
          <p:nvPr/>
        </p:nvPicPr>
        <p:blipFill>
          <a:blip r:embed="rId4">
            <a:alphaModFix/>
          </a:blip>
          <a:stretch>
            <a:fillRect/>
          </a:stretch>
        </p:blipFill>
        <p:spPr>
          <a:xfrm>
            <a:off x="1543450" y="2841550"/>
            <a:ext cx="1906122" cy="1948801"/>
          </a:xfrm>
          <a:prstGeom prst="rect">
            <a:avLst/>
          </a:prstGeom>
          <a:noFill/>
          <a:ln>
            <a:noFill/>
          </a:ln>
        </p:spPr>
      </p:pic>
      <p:sp>
        <p:nvSpPr>
          <p:cNvPr id="165" name="Google Shape;165;p26"/>
          <p:cNvSpPr txBox="1"/>
          <p:nvPr/>
        </p:nvSpPr>
        <p:spPr>
          <a:xfrm>
            <a:off x="0" y="4790350"/>
            <a:ext cx="3000000" cy="334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GB" sz="1025">
                <a:solidFill>
                  <a:schemeClr val="dk1"/>
                </a:solidFill>
              </a:rPr>
              <a:t>By:</a:t>
            </a:r>
            <a:r>
              <a:rPr lang="en-GB" sz="1025">
                <a:solidFill>
                  <a:schemeClr val="dk1"/>
                </a:solidFill>
              </a:rPr>
              <a:t> </a:t>
            </a:r>
            <a:r>
              <a:rPr lang="en-GB" sz="1025" u="sng">
                <a:solidFill>
                  <a:schemeClr val="accent5"/>
                </a:solidFill>
                <a:hlinkClick r:id="rId5">
                  <a:extLst>
                    <a:ext uri="{A12FA001-AC4F-418D-AE19-62706E023703}">
                      <ahyp:hlinkClr val="tx"/>
                    </a:ext>
                  </a:extLst>
                </a:hlinkClick>
              </a:rPr>
              <a:t>https://www.pololu.com/product/5012</a:t>
            </a:r>
            <a:r>
              <a:rPr lang="en-GB" sz="1025">
                <a:solidFill>
                  <a:schemeClr val="dk1"/>
                </a:solidFil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 Practice 1 - Connecting to the platform over SSH (Secure Shell)</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71" name="Google Shape;171;p27"/>
          <p:cNvSpPr txBox="1"/>
          <p:nvPr/>
        </p:nvSpPr>
        <p:spPr>
          <a:xfrm>
            <a:off x="405750" y="1017725"/>
            <a:ext cx="4708800" cy="34863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lang="en-GB" sz="1200">
                <a:solidFill>
                  <a:schemeClr val="dk1"/>
                </a:solidFill>
                <a:highlight>
                  <a:schemeClr val="lt1"/>
                </a:highlight>
                <a:latin typeface="Roboto"/>
                <a:ea typeface="Roboto"/>
                <a:cs typeface="Roboto"/>
                <a:sym typeface="Roboto"/>
              </a:rPr>
              <a:t>SSH is a network communication protocol that enables two computers to communicate and share data. An inherent feature of ssh is that the communication between the two computers is encrypted meaning that it is suitable for use on insecure networks</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Connect to the lab internal network: Controllab # Controllab</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Open </a:t>
            </a:r>
            <a:r>
              <a:rPr lang="en-GB" sz="1200">
                <a:solidFill>
                  <a:schemeClr val="dk1"/>
                </a:solidFill>
                <a:highlight>
                  <a:srgbClr val="FFFFFF"/>
                </a:highlight>
                <a:latin typeface="Roboto"/>
                <a:ea typeface="Roboto"/>
                <a:cs typeface="Roboto"/>
                <a:sym typeface="Roboto"/>
              </a:rPr>
              <a:t>command line interface and connect to the platform: ssh pi@192.168.0.1xx 			Password : zumo</a:t>
            </a:r>
            <a:endParaRPr sz="1200">
              <a:solidFill>
                <a:schemeClr val="dk1"/>
              </a:solidFill>
              <a:highlight>
                <a:srgbClr val="FFFFFF"/>
              </a:highlight>
              <a:latin typeface="Roboto"/>
              <a:ea typeface="Roboto"/>
              <a:cs typeface="Roboto"/>
              <a:sym typeface="Roboto"/>
            </a:endParaRPr>
          </a:p>
          <a:p>
            <a:pPr indent="0" lvl="0" marL="0" rtl="0" algn="l">
              <a:lnSpc>
                <a:spcPct val="143750"/>
              </a:lnSpc>
              <a:spcBef>
                <a:spcPts val="1200"/>
              </a:spcBef>
              <a:spcAft>
                <a:spcPts val="0"/>
              </a:spcAft>
              <a:buNone/>
            </a:pPr>
            <a:r>
              <a:rPr lang="en-GB" sz="1200">
                <a:solidFill>
                  <a:schemeClr val="dk1"/>
                </a:solidFill>
                <a:highlight>
                  <a:schemeClr val="lt1"/>
                </a:highlight>
                <a:latin typeface="Roboto"/>
                <a:ea typeface="Roboto"/>
                <a:cs typeface="Roboto"/>
                <a:sym typeface="Roboto"/>
              </a:rPr>
              <a:t>MobaXterm is an enhanced terminal for Windows with X11 server, tabbed SSH client, network tools and much more</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Launch MobaXterm (download and install if necessary)</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Connect to the platform by opening a new session</a:t>
            </a:r>
            <a:endParaRPr sz="1200">
              <a:solidFill>
                <a:schemeClr val="dk1"/>
              </a:solidFill>
              <a:highlight>
                <a:srgbClr val="FFFFFF"/>
              </a:highlight>
              <a:latin typeface="Roboto"/>
              <a:ea typeface="Roboto"/>
              <a:cs typeface="Roboto"/>
              <a:sym typeface="Roboto"/>
            </a:endParaRPr>
          </a:p>
        </p:txBody>
      </p:sp>
      <p:pic>
        <p:nvPicPr>
          <p:cNvPr id="172" name="Google Shape;172;p27"/>
          <p:cNvPicPr preferRelativeResize="0"/>
          <p:nvPr/>
        </p:nvPicPr>
        <p:blipFill>
          <a:blip r:embed="rId3">
            <a:alphaModFix/>
          </a:blip>
          <a:stretch>
            <a:fillRect/>
          </a:stretch>
        </p:blipFill>
        <p:spPr>
          <a:xfrm>
            <a:off x="5188175" y="2607975"/>
            <a:ext cx="3441830" cy="2080825"/>
          </a:xfrm>
          <a:prstGeom prst="rect">
            <a:avLst/>
          </a:prstGeom>
          <a:noFill/>
          <a:ln>
            <a:noFill/>
          </a:ln>
        </p:spPr>
      </p:pic>
      <p:pic>
        <p:nvPicPr>
          <p:cNvPr id="173" name="Google Shape;173;p27"/>
          <p:cNvPicPr preferRelativeResize="0"/>
          <p:nvPr/>
        </p:nvPicPr>
        <p:blipFill>
          <a:blip r:embed="rId4">
            <a:alphaModFix/>
          </a:blip>
          <a:stretch>
            <a:fillRect/>
          </a:stretch>
        </p:blipFill>
        <p:spPr>
          <a:xfrm>
            <a:off x="5188173" y="963261"/>
            <a:ext cx="3441824" cy="1608489"/>
          </a:xfrm>
          <a:prstGeom prst="rect">
            <a:avLst/>
          </a:prstGeom>
          <a:noFill/>
          <a:ln>
            <a:noFill/>
          </a:ln>
        </p:spPr>
      </p:pic>
      <p:sp>
        <p:nvSpPr>
          <p:cNvPr id="174" name="Google Shape;174;p27"/>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5"/>
              </a:rPr>
              <a:t>https://www.ucl.ac.uk/isd/what-ssh-and-how-do-i-use-it</a:t>
            </a:r>
            <a:r>
              <a:rPr lang="en-GB" sz="1025">
                <a:solidFill>
                  <a:schemeClr val="dk1"/>
                </a:solidFill>
              </a:rPr>
              <a:t> , </a:t>
            </a:r>
            <a:r>
              <a:rPr lang="en-GB" sz="1025" u="sng">
                <a:solidFill>
                  <a:schemeClr val="hlink"/>
                </a:solidFill>
                <a:hlinkClick r:id="rId6"/>
              </a:rPr>
              <a:t>https://mobaxterm.mobatek.net/</a:t>
            </a:r>
            <a:r>
              <a:rPr lang="en-GB" sz="1025">
                <a:solidFill>
                  <a:schemeClr val="dk1"/>
                </a:solidFill>
              </a:rPr>
              <a:t> </a:t>
            </a:r>
            <a:endParaRPr sz="1025">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Linux E</a:t>
            </a:r>
            <a:r>
              <a:rPr b="1" lang="en-GB" sz="2250">
                <a:solidFill>
                  <a:srgbClr val="741B47"/>
                </a:solidFill>
                <a:highlight>
                  <a:srgbClr val="F9F9FA"/>
                </a:highlight>
                <a:latin typeface="Roboto"/>
                <a:ea typeface="Roboto"/>
                <a:cs typeface="Roboto"/>
                <a:sym typeface="Roboto"/>
              </a:rPr>
              <a:t>nvironment</a:t>
            </a:r>
            <a:r>
              <a:rPr b="1" lang="en-GB" sz="2250">
                <a:solidFill>
                  <a:srgbClr val="741B47"/>
                </a:solidFill>
                <a:highlight>
                  <a:srgbClr val="F9F9FA"/>
                </a:highlight>
                <a:latin typeface="Roboto"/>
                <a:ea typeface="Roboto"/>
                <a:cs typeface="Roboto"/>
                <a:sym typeface="Roboto"/>
              </a:rPr>
              <a:t> - Raspberry Pi OS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80" name="Google Shape;180;p28"/>
          <p:cNvSpPr txBox="1"/>
          <p:nvPr/>
        </p:nvSpPr>
        <p:spPr>
          <a:xfrm>
            <a:off x="405750" y="1017725"/>
            <a:ext cx="4752300" cy="3444000"/>
          </a:xfrm>
          <a:prstGeom prst="rect">
            <a:avLst/>
          </a:prstGeom>
          <a:noFill/>
          <a:ln>
            <a:noFill/>
          </a:ln>
        </p:spPr>
        <p:txBody>
          <a:bodyPr anchorCtr="0" anchor="t" bIns="91425" lIns="91425" spcFirstLastPara="1" rIns="91425" wrap="square" tIns="91425">
            <a:spAutoFit/>
          </a:bodyPr>
          <a:lstStyle/>
          <a:p>
            <a:pPr indent="0" lvl="0" marL="0" marR="0" rtl="0" algn="l">
              <a:lnSpc>
                <a:spcPct val="143750"/>
              </a:lnSpc>
              <a:spcBef>
                <a:spcPts val="0"/>
              </a:spcBef>
              <a:spcAft>
                <a:spcPts val="0"/>
              </a:spcAft>
              <a:buNone/>
            </a:pPr>
            <a:r>
              <a:rPr lang="en-GB" sz="1200">
                <a:solidFill>
                  <a:schemeClr val="dk1"/>
                </a:solidFill>
                <a:highlight>
                  <a:srgbClr val="FFFFFF"/>
                </a:highlight>
                <a:latin typeface="Roboto"/>
                <a:ea typeface="Roboto"/>
                <a:cs typeface="Roboto"/>
                <a:sym typeface="Roboto"/>
              </a:rPr>
              <a:t>Linux is a family of open-source Unix-like operating systems based on the Linux kernel, an operating system kernel first released on September 17, 1991, by Linus Torvalds. Linux is typically packaged in a Linux distribution. </a:t>
            </a:r>
            <a:r>
              <a:rPr lang="en-GB" sz="1200">
                <a:solidFill>
                  <a:schemeClr val="dk1"/>
                </a:solidFill>
                <a:highlight>
                  <a:srgbClr val="FFFFFF"/>
                </a:highlight>
                <a:latin typeface="Roboto"/>
                <a:ea typeface="Roboto"/>
                <a:cs typeface="Roboto"/>
                <a:sym typeface="Roboto"/>
              </a:rPr>
              <a:t>Popular Linux distributions include Debian, Fedora Linux, and Ubuntu, which in itself has many different distributions and modifications, including Lubuntu and Xubuntu</a:t>
            </a:r>
            <a:endParaRPr sz="1200">
              <a:solidFill>
                <a:schemeClr val="dk1"/>
              </a:solidFill>
              <a:highlight>
                <a:srgbClr val="FFFFFF"/>
              </a:highlight>
              <a:latin typeface="Roboto"/>
              <a:ea typeface="Roboto"/>
              <a:cs typeface="Roboto"/>
              <a:sym typeface="Roboto"/>
            </a:endParaRPr>
          </a:p>
          <a:p>
            <a:pPr indent="0" lvl="0" marL="0" marR="0" rtl="0" algn="l">
              <a:lnSpc>
                <a:spcPct val="143750"/>
              </a:lnSpc>
              <a:spcBef>
                <a:spcPts val="1200"/>
              </a:spcBef>
              <a:spcAft>
                <a:spcPts val="1200"/>
              </a:spcAft>
              <a:buNone/>
            </a:pPr>
            <a:r>
              <a:rPr lang="en-GB" sz="1200">
                <a:solidFill>
                  <a:schemeClr val="dk1"/>
                </a:solidFill>
                <a:highlight>
                  <a:schemeClr val="lt1"/>
                </a:highlight>
                <a:latin typeface="Roboto"/>
                <a:ea typeface="Roboto"/>
                <a:cs typeface="Roboto"/>
                <a:sym typeface="Roboto"/>
              </a:rPr>
              <a:t>Raspberry Pi OS (previously called Raspbian) is the official supported operating system for the raspberry pi. Raspberry Pi OS</a:t>
            </a:r>
            <a:r>
              <a:rPr lang="en-GB" sz="1200">
                <a:solidFill>
                  <a:schemeClr val="dk1"/>
                </a:solidFill>
                <a:highlight>
                  <a:srgbClr val="FFFFFF"/>
                </a:highlight>
                <a:latin typeface="Roboto"/>
                <a:ea typeface="Roboto"/>
                <a:cs typeface="Roboto"/>
                <a:sym typeface="Roboto"/>
              </a:rPr>
              <a:t> is a free operating system based on Debian optimized for the Raspberry Pi hardware. Raspbian provides more than a pure OS: it comes with over 35,000 packages, pre-compiled software bundled in a nice format for easy installation on your Raspberry Pi.</a:t>
            </a:r>
            <a:endParaRPr sz="1200">
              <a:solidFill>
                <a:schemeClr val="dk1"/>
              </a:solidFill>
              <a:highlight>
                <a:srgbClr val="FFFFFF"/>
              </a:highlight>
              <a:latin typeface="Roboto"/>
              <a:ea typeface="Roboto"/>
              <a:cs typeface="Roboto"/>
              <a:sym typeface="Roboto"/>
            </a:endParaRPr>
          </a:p>
        </p:txBody>
      </p:sp>
      <p:sp>
        <p:nvSpPr>
          <p:cNvPr id="181" name="Google Shape;181;p28"/>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https://en.wikipedia.org/wiki/Linux</a:t>
            </a:r>
            <a:r>
              <a:rPr lang="en-GB" sz="1025">
                <a:solidFill>
                  <a:schemeClr val="dk1"/>
                </a:solidFill>
              </a:rPr>
              <a:t> , </a:t>
            </a:r>
            <a:r>
              <a:rPr lang="en-GB" sz="1025" u="sng">
                <a:solidFill>
                  <a:schemeClr val="hlink"/>
                </a:solidFill>
                <a:hlinkClick r:id="rId4"/>
              </a:rPr>
              <a:t>https://www.raspbian.org/</a:t>
            </a:r>
            <a:r>
              <a:rPr lang="en-GB" sz="1025">
                <a:solidFill>
                  <a:schemeClr val="dk1"/>
                </a:solidFill>
              </a:rPr>
              <a:t> , </a:t>
            </a:r>
            <a:r>
              <a:rPr lang="en-GB" sz="1025" u="sng">
                <a:solidFill>
                  <a:schemeClr val="hlink"/>
                </a:solidFill>
                <a:hlinkClick r:id="rId5"/>
              </a:rPr>
              <a:t>https://www.raspberrypi.com/software/</a:t>
            </a:r>
            <a:r>
              <a:rPr lang="en-GB" sz="1025">
                <a:solidFill>
                  <a:schemeClr val="dk1"/>
                </a:solidFill>
              </a:rPr>
              <a:t> </a:t>
            </a:r>
            <a:endParaRPr sz="1025">
              <a:solidFill>
                <a:schemeClr val="dk1"/>
              </a:solidFill>
            </a:endParaRPr>
          </a:p>
        </p:txBody>
      </p:sp>
      <p:pic>
        <p:nvPicPr>
          <p:cNvPr id="182" name="Google Shape;182;p28"/>
          <p:cNvPicPr preferRelativeResize="0"/>
          <p:nvPr/>
        </p:nvPicPr>
        <p:blipFill>
          <a:blip r:embed="rId6">
            <a:alphaModFix/>
          </a:blip>
          <a:stretch>
            <a:fillRect/>
          </a:stretch>
        </p:blipFill>
        <p:spPr>
          <a:xfrm>
            <a:off x="5462250" y="532625"/>
            <a:ext cx="3500375" cy="2098071"/>
          </a:xfrm>
          <a:prstGeom prst="rect">
            <a:avLst/>
          </a:prstGeom>
          <a:noFill/>
          <a:ln>
            <a:noFill/>
          </a:ln>
        </p:spPr>
      </p:pic>
      <p:pic>
        <p:nvPicPr>
          <p:cNvPr id="183" name="Google Shape;183;p28"/>
          <p:cNvPicPr preferRelativeResize="0"/>
          <p:nvPr/>
        </p:nvPicPr>
        <p:blipFill>
          <a:blip r:embed="rId7">
            <a:alphaModFix/>
          </a:blip>
          <a:stretch>
            <a:fillRect/>
          </a:stretch>
        </p:blipFill>
        <p:spPr>
          <a:xfrm>
            <a:off x="5462250" y="2823375"/>
            <a:ext cx="3500375" cy="19689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 Practice 2 - Basic Unix Commands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89" name="Google Shape;189;p29"/>
          <p:cNvSpPr txBox="1"/>
          <p:nvPr/>
        </p:nvSpPr>
        <p:spPr>
          <a:xfrm>
            <a:off x="405750" y="1017725"/>
            <a:ext cx="4708800" cy="38211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ls</a:t>
            </a:r>
            <a:r>
              <a:rPr lang="en-GB" sz="1200">
                <a:solidFill>
                  <a:schemeClr val="dk1"/>
                </a:solidFill>
                <a:highlight>
                  <a:srgbClr val="FFFFFF"/>
                </a:highlight>
                <a:latin typeface="Roboto"/>
                <a:ea typeface="Roboto"/>
                <a:cs typeface="Roboto"/>
                <a:sym typeface="Roboto"/>
              </a:rPr>
              <a:t> --- lists your files</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ls -l</a:t>
            </a:r>
            <a:r>
              <a:rPr lang="en-GB" sz="1200">
                <a:solidFill>
                  <a:schemeClr val="dk1"/>
                </a:solidFill>
                <a:highlight>
                  <a:srgbClr val="FFFFFF"/>
                </a:highlight>
                <a:latin typeface="Roboto"/>
                <a:ea typeface="Roboto"/>
                <a:cs typeface="Roboto"/>
                <a:sym typeface="Roboto"/>
              </a:rPr>
              <a:t> --- lists your files in 'long format', which contains lots of useful information</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ls -a</a:t>
            </a:r>
            <a:r>
              <a:rPr lang="en-GB" sz="1200">
                <a:solidFill>
                  <a:schemeClr val="dk1"/>
                </a:solidFill>
                <a:highlight>
                  <a:srgbClr val="FFFFFF"/>
                </a:highlight>
                <a:latin typeface="Roboto"/>
                <a:ea typeface="Roboto"/>
                <a:cs typeface="Roboto"/>
                <a:sym typeface="Roboto"/>
              </a:rPr>
              <a:t> --- lists all files, including the ones whose filenames begin in a dot</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ls -help</a:t>
            </a:r>
            <a:r>
              <a:rPr lang="en-GB" sz="1200">
                <a:solidFill>
                  <a:schemeClr val="dk1"/>
                </a:solidFill>
                <a:highlight>
                  <a:schemeClr val="lt1"/>
                </a:highlight>
                <a:latin typeface="Roboto"/>
                <a:ea typeface="Roboto"/>
                <a:cs typeface="Roboto"/>
                <a:sym typeface="Roboto"/>
              </a:rPr>
              <a:t> --- prints the help manual page for the command</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man ls</a:t>
            </a:r>
            <a:r>
              <a:rPr lang="en-GB" sz="1200">
                <a:solidFill>
                  <a:schemeClr val="dk1"/>
                </a:solidFill>
                <a:highlight>
                  <a:schemeClr val="lt1"/>
                </a:highlight>
                <a:latin typeface="Roboto"/>
                <a:ea typeface="Roboto"/>
                <a:cs typeface="Roboto"/>
                <a:sym typeface="Roboto"/>
              </a:rPr>
              <a:t> --- shows you the manual page for the command</a:t>
            </a:r>
            <a:endParaRPr sz="1200">
              <a:solidFill>
                <a:schemeClr val="dk1"/>
              </a:solidFill>
              <a:highlight>
                <a:schemeClr val="lt1"/>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cd dirname</a:t>
            </a:r>
            <a:r>
              <a:rPr lang="en-GB" sz="1200">
                <a:solidFill>
                  <a:schemeClr val="dk1"/>
                </a:solidFill>
                <a:highlight>
                  <a:srgbClr val="FFFFFF"/>
                </a:highlight>
                <a:latin typeface="Roboto"/>
                <a:ea typeface="Roboto"/>
                <a:cs typeface="Roboto"/>
                <a:sym typeface="Roboto"/>
              </a:rPr>
              <a:t> --- change directory. You basically 'go' to another directory, and you will see the files in that directory</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cd .. </a:t>
            </a:r>
            <a:r>
              <a:rPr lang="en-GB" sz="1200">
                <a:solidFill>
                  <a:schemeClr val="dk1"/>
                </a:solidFill>
                <a:highlight>
                  <a:schemeClr val="lt1"/>
                </a:highlight>
                <a:latin typeface="Roboto"/>
                <a:ea typeface="Roboto"/>
                <a:cs typeface="Roboto"/>
                <a:sym typeface="Roboto"/>
              </a:rPr>
              <a:t>--- change to the parent directory</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pwd </a:t>
            </a:r>
            <a:r>
              <a:rPr lang="en-GB" sz="1200">
                <a:solidFill>
                  <a:schemeClr val="dk1"/>
                </a:solidFill>
                <a:highlight>
                  <a:schemeClr val="lt1"/>
                </a:highlight>
                <a:latin typeface="Roboto"/>
                <a:ea typeface="Roboto"/>
                <a:cs typeface="Roboto"/>
                <a:sym typeface="Roboto"/>
              </a:rPr>
              <a:t>--- tells you where you currently are</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chmod options filename </a:t>
            </a:r>
            <a:r>
              <a:rPr lang="en-GB" sz="1200">
                <a:solidFill>
                  <a:schemeClr val="dk1"/>
                </a:solidFill>
                <a:highlight>
                  <a:schemeClr val="lt1"/>
                </a:highlight>
                <a:latin typeface="Roboto"/>
                <a:ea typeface="Roboto"/>
                <a:cs typeface="Roboto"/>
                <a:sym typeface="Roboto"/>
              </a:rPr>
              <a:t>--- lets you change the read, write, and execute permissions on your files. </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sudo reboot </a:t>
            </a:r>
            <a:r>
              <a:rPr lang="en-GB" sz="1200">
                <a:solidFill>
                  <a:schemeClr val="dk1"/>
                </a:solidFill>
                <a:highlight>
                  <a:schemeClr val="lt1"/>
                </a:highlight>
                <a:latin typeface="Roboto"/>
                <a:ea typeface="Roboto"/>
                <a:cs typeface="Roboto"/>
                <a:sym typeface="Roboto"/>
              </a:rPr>
              <a:t>--- Performs system reboot</a:t>
            </a:r>
            <a:endParaRPr b="1" sz="1200">
              <a:solidFill>
                <a:schemeClr val="dk1"/>
              </a:solidFill>
              <a:highlight>
                <a:schemeClr val="lt1"/>
              </a:highlight>
              <a:latin typeface="Roboto"/>
              <a:ea typeface="Roboto"/>
              <a:cs typeface="Roboto"/>
              <a:sym typeface="Roboto"/>
            </a:endParaRPr>
          </a:p>
        </p:txBody>
      </p:sp>
      <p:pic>
        <p:nvPicPr>
          <p:cNvPr id="190" name="Google Shape;190;p29"/>
          <p:cNvPicPr preferRelativeResize="0"/>
          <p:nvPr/>
        </p:nvPicPr>
        <p:blipFill>
          <a:blip r:embed="rId3">
            <a:alphaModFix/>
          </a:blip>
          <a:stretch>
            <a:fillRect/>
          </a:stretch>
        </p:blipFill>
        <p:spPr>
          <a:xfrm>
            <a:off x="5209000" y="1017725"/>
            <a:ext cx="3724649" cy="2258946"/>
          </a:xfrm>
          <a:prstGeom prst="rect">
            <a:avLst/>
          </a:prstGeom>
          <a:noFill/>
          <a:ln>
            <a:noFill/>
          </a:ln>
        </p:spPr>
      </p:pic>
      <p:sp>
        <p:nvSpPr>
          <p:cNvPr id="191" name="Google Shape;191;p29"/>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 </a:t>
            </a:r>
            <a:r>
              <a:rPr lang="en-GB" sz="1025" u="sng">
                <a:solidFill>
                  <a:schemeClr val="hlink"/>
                </a:solidFill>
                <a:hlinkClick r:id="rId4"/>
              </a:rPr>
              <a:t>https://mally.stanford.edu/~sr/computing/basic-unix.html</a:t>
            </a:r>
            <a:r>
              <a:rPr lang="en-GB" sz="1025">
                <a:solidFill>
                  <a:schemeClr val="dk1"/>
                </a:solidFill>
              </a:rPr>
              <a:t> </a:t>
            </a:r>
            <a:r>
              <a:rPr lang="en-GB" sz="1025">
                <a:solidFill>
                  <a:schemeClr val="dk1"/>
                </a:solidFill>
              </a:rPr>
              <a:t> </a:t>
            </a:r>
            <a:endParaRPr sz="1025">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Setting up VS Code </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97" name="Google Shape;197;p30"/>
          <p:cNvSpPr txBox="1"/>
          <p:nvPr/>
        </p:nvSpPr>
        <p:spPr>
          <a:xfrm>
            <a:off x="405750" y="851125"/>
            <a:ext cx="8426700" cy="37095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lang="en-GB" sz="1200">
                <a:solidFill>
                  <a:schemeClr val="dk1"/>
                </a:solidFill>
                <a:highlight>
                  <a:srgbClr val="FFFFFF"/>
                </a:highlight>
                <a:latin typeface="Roboto"/>
                <a:ea typeface="Roboto"/>
                <a:cs typeface="Roboto"/>
                <a:sym typeface="Roboto"/>
              </a:rPr>
              <a:t>Visual Studio Code, also commonly referred to as VS Code, is a source-code editor made by Microsoft for Windows, Linux and macOS. Features include support for debugging, syntax highlighting, intelligent code completion, snippets, code refactoring, and embedded Git. Users can change the theme, keyboard shortcuts, preferences, and install extensions that add additional functionality.</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Install VS Code (if needed) </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Add the following </a:t>
            </a:r>
            <a:r>
              <a:rPr lang="en-GB" sz="1200">
                <a:solidFill>
                  <a:schemeClr val="dk1"/>
                </a:solidFill>
                <a:highlight>
                  <a:srgbClr val="FFFFFF"/>
                </a:highlight>
                <a:latin typeface="Roboto"/>
                <a:ea typeface="Roboto"/>
                <a:cs typeface="Roboto"/>
                <a:sym typeface="Roboto"/>
              </a:rPr>
              <a:t>extensions (if needed)</a:t>
            </a:r>
            <a:r>
              <a:rPr lang="en-GB" sz="1200">
                <a:solidFill>
                  <a:schemeClr val="dk1"/>
                </a:solidFill>
                <a:highlight>
                  <a:srgbClr val="FFFFFF"/>
                </a:highlight>
                <a:latin typeface="Roboto"/>
                <a:ea typeface="Roboto"/>
                <a:cs typeface="Roboto"/>
                <a:sym typeface="Roboto"/>
              </a:rPr>
              <a:t>:</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C/C++ </a:t>
            </a:r>
            <a:r>
              <a:rPr lang="en-GB" sz="1200">
                <a:solidFill>
                  <a:schemeClr val="dk1"/>
                </a:solidFill>
                <a:highlight>
                  <a:schemeClr val="lt1"/>
                </a:highlight>
                <a:latin typeface="Roboto"/>
                <a:ea typeface="Roboto"/>
                <a:cs typeface="Roboto"/>
                <a:sym typeface="Roboto"/>
              </a:rPr>
              <a:t>(Microsoft)</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Python </a:t>
            </a:r>
            <a:r>
              <a:rPr lang="en-GB" sz="1200">
                <a:solidFill>
                  <a:schemeClr val="dk1"/>
                </a:solidFill>
                <a:highlight>
                  <a:schemeClr val="lt1"/>
                </a:highlight>
                <a:latin typeface="Roboto"/>
                <a:ea typeface="Roboto"/>
                <a:cs typeface="Roboto"/>
                <a:sym typeface="Roboto"/>
              </a:rPr>
              <a:t>(Microsoft)</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Remote - SSH </a:t>
            </a:r>
            <a:r>
              <a:rPr lang="en-GB" sz="1200">
                <a:solidFill>
                  <a:schemeClr val="dk1"/>
                </a:solidFill>
                <a:highlight>
                  <a:schemeClr val="lt1"/>
                </a:highlight>
                <a:latin typeface="Roboto"/>
                <a:ea typeface="Roboto"/>
                <a:cs typeface="Roboto"/>
                <a:sym typeface="Roboto"/>
              </a:rPr>
              <a:t>(Microsoft)</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Connect to the platform</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Connect to a host → Your platform Ip</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Add new SSH Host (If needed)</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Open Folder → WS_Zumo</a:t>
            </a:r>
            <a:endParaRPr sz="1200">
              <a:solidFill>
                <a:schemeClr val="dk1"/>
              </a:solidFill>
              <a:highlight>
                <a:srgbClr val="FFFFFF"/>
              </a:highlight>
              <a:latin typeface="Roboto"/>
              <a:ea typeface="Roboto"/>
              <a:cs typeface="Roboto"/>
              <a:sym typeface="Roboto"/>
            </a:endParaRPr>
          </a:p>
        </p:txBody>
      </p:sp>
      <p:pic>
        <p:nvPicPr>
          <p:cNvPr id="198" name="Google Shape;198;p30"/>
          <p:cNvPicPr preferRelativeResize="0"/>
          <p:nvPr/>
        </p:nvPicPr>
        <p:blipFill>
          <a:blip r:embed="rId3">
            <a:alphaModFix/>
          </a:blip>
          <a:stretch>
            <a:fillRect/>
          </a:stretch>
        </p:blipFill>
        <p:spPr>
          <a:xfrm>
            <a:off x="4520800" y="1824250"/>
            <a:ext cx="4179701" cy="3145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Exercise 1 - Raspberry pi </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04" name="Google Shape;204;p31"/>
          <p:cNvSpPr txBox="1"/>
          <p:nvPr/>
        </p:nvSpPr>
        <p:spPr>
          <a:xfrm>
            <a:off x="405750" y="1017725"/>
            <a:ext cx="4122300" cy="27591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Navigate to /home/pi/WS_Zumo/Student</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Create a new folder with your group number / name</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Write a Hello world script in python and execute it. The program should print a Hello World string to the command line interface.</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Methods for execution:</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python hello.py</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./hello.py (if file is executable) </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Play button in VS Code if </a:t>
            </a:r>
            <a:r>
              <a:rPr lang="en-GB" sz="1200">
                <a:solidFill>
                  <a:schemeClr val="dk1"/>
                </a:solidFill>
                <a:highlight>
                  <a:srgbClr val="FFFFFF"/>
                </a:highlight>
                <a:latin typeface="Roboto"/>
                <a:ea typeface="Roboto"/>
                <a:cs typeface="Roboto"/>
                <a:sym typeface="Roboto"/>
              </a:rPr>
              <a:t>extension</a:t>
            </a:r>
            <a:r>
              <a:rPr lang="en-GB" sz="1200">
                <a:solidFill>
                  <a:schemeClr val="dk1"/>
                </a:solidFill>
                <a:highlight>
                  <a:srgbClr val="FFFFFF"/>
                </a:highlight>
                <a:latin typeface="Roboto"/>
                <a:ea typeface="Roboto"/>
                <a:cs typeface="Roboto"/>
                <a:sym typeface="Roboto"/>
              </a:rPr>
              <a:t> for python is installed</a:t>
            </a:r>
            <a:endParaRPr sz="1200">
              <a:solidFill>
                <a:schemeClr val="dk1"/>
              </a:solidFill>
              <a:highlight>
                <a:srgbClr val="FFFFFF"/>
              </a:highlight>
              <a:latin typeface="Roboto"/>
              <a:ea typeface="Roboto"/>
              <a:cs typeface="Roboto"/>
              <a:sym typeface="Roboto"/>
            </a:endParaRPr>
          </a:p>
        </p:txBody>
      </p:sp>
      <p:pic>
        <p:nvPicPr>
          <p:cNvPr id="205" name="Google Shape;205;p31"/>
          <p:cNvPicPr preferRelativeResize="0"/>
          <p:nvPr/>
        </p:nvPicPr>
        <p:blipFill>
          <a:blip r:embed="rId3">
            <a:alphaModFix/>
          </a:blip>
          <a:stretch>
            <a:fillRect/>
          </a:stretch>
        </p:blipFill>
        <p:spPr>
          <a:xfrm>
            <a:off x="4528025" y="1017725"/>
            <a:ext cx="4362148" cy="268999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Practice 3 - VNC (Virtual Network Computing) &amp; </a:t>
            </a:r>
            <a:r>
              <a:rPr b="1" lang="en-GB" sz="2250">
                <a:solidFill>
                  <a:srgbClr val="741B47"/>
                </a:solidFill>
                <a:highlight>
                  <a:srgbClr val="F9F9FA"/>
                </a:highlight>
                <a:latin typeface="Roboto"/>
                <a:ea typeface="Roboto"/>
                <a:cs typeface="Roboto"/>
                <a:sym typeface="Roboto"/>
              </a:rPr>
              <a:t>Arduino</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11" name="Google Shape;211;p32"/>
          <p:cNvSpPr txBox="1"/>
          <p:nvPr/>
        </p:nvSpPr>
        <p:spPr>
          <a:xfrm>
            <a:off x="405750" y="1017725"/>
            <a:ext cx="8426700" cy="32901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Install VNC Viewer (if needed) </a:t>
            </a:r>
            <a:r>
              <a:rPr lang="en-GB" sz="1200" u="sng">
                <a:solidFill>
                  <a:schemeClr val="hlink"/>
                </a:solidFill>
                <a:highlight>
                  <a:schemeClr val="lt1"/>
                </a:highlight>
                <a:latin typeface="Roboto"/>
                <a:ea typeface="Roboto"/>
                <a:cs typeface="Roboto"/>
                <a:sym typeface="Roboto"/>
                <a:hlinkClick r:id="rId3"/>
              </a:rPr>
              <a:t>https://www.realvnc.com/en/</a:t>
            </a:r>
            <a:r>
              <a:rPr lang="en-GB" sz="1200">
                <a:solidFill>
                  <a:schemeClr val="dk1"/>
                </a:solidFill>
                <a:highlight>
                  <a:schemeClr val="lt1"/>
                </a:highlight>
                <a:latin typeface="Roboto"/>
                <a:ea typeface="Roboto"/>
                <a:cs typeface="Roboto"/>
                <a:sym typeface="Roboto"/>
              </a:rPr>
              <a:t>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Connect to the platform desktop environment</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User name: pi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Password: zumo</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Run Arduino IDE on the Raspberry Pi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Open Led blink example File→Open</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Pi/WS_Zumo/Arduino/Examples/BlinkLEDs/BlinkLEDs.ino</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the the code and notice the Leds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Open the Serial Monitor and notice the text</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Save the code in your group folder: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Pi/WS_Zumo/Student/&lt;Folder&gt;/BlinkLeds/BlinkLEDs.ino</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Close everything before proceeding</a:t>
            </a:r>
            <a:endParaRPr b="1" sz="1200">
              <a:solidFill>
                <a:schemeClr val="dk1"/>
              </a:solidFill>
              <a:highlight>
                <a:srgbClr val="FFFFFF"/>
              </a:highlight>
              <a:latin typeface="Roboto"/>
              <a:ea typeface="Roboto"/>
              <a:cs typeface="Roboto"/>
              <a:sym typeface="Roboto"/>
            </a:endParaRPr>
          </a:p>
        </p:txBody>
      </p:sp>
      <p:pic>
        <p:nvPicPr>
          <p:cNvPr id="212" name="Google Shape;212;p32"/>
          <p:cNvPicPr preferRelativeResize="0"/>
          <p:nvPr/>
        </p:nvPicPr>
        <p:blipFill>
          <a:blip r:embed="rId4">
            <a:alphaModFix/>
          </a:blip>
          <a:stretch>
            <a:fillRect/>
          </a:stretch>
        </p:blipFill>
        <p:spPr>
          <a:xfrm>
            <a:off x="6992075" y="974550"/>
            <a:ext cx="1840226" cy="1185500"/>
          </a:xfrm>
          <a:prstGeom prst="rect">
            <a:avLst/>
          </a:prstGeom>
          <a:noFill/>
          <a:ln>
            <a:noFill/>
          </a:ln>
        </p:spPr>
      </p:pic>
      <p:pic>
        <p:nvPicPr>
          <p:cNvPr id="213" name="Google Shape;213;p32"/>
          <p:cNvPicPr preferRelativeResize="0"/>
          <p:nvPr/>
        </p:nvPicPr>
        <p:blipFill>
          <a:blip r:embed="rId5">
            <a:alphaModFix/>
          </a:blip>
          <a:stretch>
            <a:fillRect/>
          </a:stretch>
        </p:blipFill>
        <p:spPr>
          <a:xfrm>
            <a:off x="5380250" y="2160050"/>
            <a:ext cx="3452199" cy="22188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Practice 3 - Continue</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19" name="Google Shape;219;p33"/>
          <p:cNvSpPr txBox="1"/>
          <p:nvPr/>
        </p:nvSpPr>
        <p:spPr>
          <a:xfrm>
            <a:off x="405750" y="1017725"/>
            <a:ext cx="4717500" cy="35556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Open mobaXterm and </a:t>
            </a:r>
            <a:r>
              <a:rPr lang="en-GB" sz="1200">
                <a:solidFill>
                  <a:schemeClr val="dk1"/>
                </a:solidFill>
                <a:highlight>
                  <a:srgbClr val="FFFFFF"/>
                </a:highlight>
                <a:latin typeface="Roboto"/>
                <a:ea typeface="Roboto"/>
                <a:cs typeface="Roboto"/>
                <a:sym typeface="Roboto"/>
              </a:rPr>
              <a:t>connect</a:t>
            </a:r>
            <a:r>
              <a:rPr lang="en-GB" sz="1200">
                <a:solidFill>
                  <a:schemeClr val="dk1"/>
                </a:solidFill>
                <a:highlight>
                  <a:srgbClr val="FFFFFF"/>
                </a:highlight>
                <a:latin typeface="Roboto"/>
                <a:ea typeface="Roboto"/>
                <a:cs typeface="Roboto"/>
                <a:sym typeface="Roboto"/>
              </a:rPr>
              <a:t> to the platform</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Run </a:t>
            </a:r>
            <a:r>
              <a:rPr b="1" lang="en-GB" sz="1200">
                <a:solidFill>
                  <a:schemeClr val="dk1"/>
                </a:solidFill>
                <a:highlight>
                  <a:srgbClr val="FFFFFF"/>
                </a:highlight>
                <a:latin typeface="Roboto"/>
                <a:ea typeface="Roboto"/>
                <a:cs typeface="Roboto"/>
                <a:sym typeface="Roboto"/>
              </a:rPr>
              <a:t>arduino </a:t>
            </a:r>
            <a:r>
              <a:rPr lang="en-GB" sz="1200">
                <a:solidFill>
                  <a:schemeClr val="dk1"/>
                </a:solidFill>
                <a:highlight>
                  <a:srgbClr val="FFFFFF"/>
                </a:highlight>
                <a:latin typeface="Roboto"/>
                <a:ea typeface="Roboto"/>
                <a:cs typeface="Roboto"/>
                <a:sym typeface="Roboto"/>
              </a:rPr>
              <a:t>command in the terminal</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Arduino IDE interface will be opened on the pc</a:t>
            </a:r>
            <a:r>
              <a:rPr lang="en-GB" sz="1200">
                <a:solidFill>
                  <a:schemeClr val="dk1"/>
                </a:solidFill>
                <a:highlight>
                  <a:srgbClr val="FFFFFF"/>
                </a:highlight>
                <a:latin typeface="Roboto"/>
                <a:ea typeface="Roboto"/>
                <a:cs typeface="Roboto"/>
                <a:sym typeface="Roboto"/>
              </a:rPr>
              <a:t> by the X11-forwarding protocol available in MobaXterm</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Upload the code again and view the serial monitor</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Upload code using Arduino CLI - (Command Line Interface)</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Navigate to the code using a terminal</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cd WS_Zumo/Student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Compile and upload the code using aliased </a:t>
            </a:r>
            <a:r>
              <a:rPr lang="en-GB" sz="1200">
                <a:solidFill>
                  <a:schemeClr val="dk1"/>
                </a:solidFill>
                <a:highlight>
                  <a:schemeClr val="lt1"/>
                </a:highlight>
                <a:latin typeface="Roboto"/>
                <a:ea typeface="Roboto"/>
                <a:cs typeface="Roboto"/>
                <a:sym typeface="Roboto"/>
              </a:rPr>
              <a:t>c</a:t>
            </a:r>
            <a:r>
              <a:rPr lang="en-GB" sz="1200">
                <a:solidFill>
                  <a:schemeClr val="dk1"/>
                </a:solidFill>
                <a:highlight>
                  <a:schemeClr val="lt1"/>
                </a:highlight>
                <a:latin typeface="Roboto"/>
                <a:ea typeface="Roboto"/>
                <a:cs typeface="Roboto"/>
                <a:sym typeface="Roboto"/>
              </a:rPr>
              <a:t>ommands: </a:t>
            </a:r>
            <a:r>
              <a:rPr b="1" lang="en-GB" sz="1200">
                <a:solidFill>
                  <a:schemeClr val="dk1"/>
                </a:solidFill>
                <a:highlight>
                  <a:schemeClr val="lt1"/>
                </a:highlight>
                <a:latin typeface="Roboto"/>
                <a:ea typeface="Roboto"/>
                <a:cs typeface="Roboto"/>
                <a:sym typeface="Roboto"/>
              </a:rPr>
              <a:t>(Close Serial Monitor between Methods)</a:t>
            </a:r>
            <a:endParaRPr b="1" sz="1200">
              <a:solidFill>
                <a:schemeClr val="dk1"/>
              </a:solidFill>
              <a:highlight>
                <a:schemeClr val="lt1"/>
              </a:highlight>
              <a:latin typeface="Roboto"/>
              <a:ea typeface="Roboto"/>
              <a:cs typeface="Roboto"/>
              <a:sym typeface="Roboto"/>
            </a:endParaRPr>
          </a:p>
          <a:p>
            <a:pPr indent="-304800" lvl="2" marL="13716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zumoCompile</a:t>
            </a:r>
            <a:r>
              <a:rPr lang="en-GB" sz="1200">
                <a:solidFill>
                  <a:schemeClr val="dk1"/>
                </a:solidFill>
                <a:highlight>
                  <a:schemeClr val="lt1"/>
                </a:highlight>
                <a:latin typeface="Roboto"/>
                <a:ea typeface="Roboto"/>
                <a:cs typeface="Roboto"/>
                <a:sym typeface="Roboto"/>
              </a:rPr>
              <a:t> BlinkLEDs.ino</a:t>
            </a:r>
            <a:endParaRPr sz="1200">
              <a:solidFill>
                <a:schemeClr val="dk1"/>
              </a:solidFill>
              <a:highlight>
                <a:schemeClr val="lt1"/>
              </a:highlight>
              <a:latin typeface="Roboto"/>
              <a:ea typeface="Roboto"/>
              <a:cs typeface="Roboto"/>
              <a:sym typeface="Roboto"/>
            </a:endParaRPr>
          </a:p>
          <a:p>
            <a:pPr indent="-304800" lvl="2" marL="13716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zumoUpload	BlinkLEDs.ino</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Modify the code and see the changes applied</a:t>
            </a:r>
            <a:endParaRPr sz="1200">
              <a:solidFill>
                <a:schemeClr val="dk1"/>
              </a:solidFill>
              <a:highlight>
                <a:srgbClr val="FFFFFF"/>
              </a:highlight>
              <a:latin typeface="Roboto"/>
              <a:ea typeface="Roboto"/>
              <a:cs typeface="Roboto"/>
              <a:sym typeface="Roboto"/>
            </a:endParaRPr>
          </a:p>
        </p:txBody>
      </p:sp>
      <p:pic>
        <p:nvPicPr>
          <p:cNvPr id="220" name="Google Shape;220;p33"/>
          <p:cNvPicPr preferRelativeResize="0"/>
          <p:nvPr/>
        </p:nvPicPr>
        <p:blipFill>
          <a:blip r:embed="rId3">
            <a:alphaModFix/>
          </a:blip>
          <a:stretch>
            <a:fillRect/>
          </a:stretch>
        </p:blipFill>
        <p:spPr>
          <a:xfrm>
            <a:off x="5123250" y="1017725"/>
            <a:ext cx="3715953" cy="20484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Exercise 2 - Arduino </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26" name="Google Shape;226;p34"/>
          <p:cNvSpPr txBox="1"/>
          <p:nvPr/>
        </p:nvSpPr>
        <p:spPr>
          <a:xfrm>
            <a:off x="405750" y="1017725"/>
            <a:ext cx="8236800" cy="31785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Based on the led example write a program for a sequence blinking and execute it using the various methods:</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Arduino IDE through VNC connection </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Arduino Cli using mobaXtem </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VSCode (if </a:t>
            </a:r>
            <a:r>
              <a:rPr lang="en-GB" sz="1200">
                <a:solidFill>
                  <a:schemeClr val="dk1"/>
                </a:solidFill>
                <a:highlight>
                  <a:schemeClr val="lt1"/>
                </a:highlight>
                <a:latin typeface="Roboto"/>
                <a:ea typeface="Roboto"/>
                <a:cs typeface="Roboto"/>
                <a:sym typeface="Roboto"/>
              </a:rPr>
              <a:t>extension </a:t>
            </a:r>
            <a:r>
              <a:rPr lang="en-GB" sz="1200">
                <a:solidFill>
                  <a:schemeClr val="dk1"/>
                </a:solidFill>
                <a:highlight>
                  <a:srgbClr val="FFFFFF"/>
                </a:highlight>
                <a:latin typeface="Roboto"/>
                <a:ea typeface="Roboto"/>
                <a:cs typeface="Roboto"/>
                <a:sym typeface="Roboto"/>
              </a:rPr>
              <a:t>is installed)</a:t>
            </a:r>
            <a:endParaRPr sz="1200">
              <a:solidFill>
                <a:schemeClr val="dk1"/>
              </a:solidFill>
              <a:highlight>
                <a:srgbClr val="FFFFFF"/>
              </a:highlight>
              <a:latin typeface="Roboto"/>
              <a:ea typeface="Roboto"/>
              <a:cs typeface="Roboto"/>
              <a:sym typeface="Roboto"/>
            </a:endParaRPr>
          </a:p>
          <a:p>
            <a:pPr indent="-304800" lvl="2" marL="13716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Which method is the </a:t>
            </a:r>
            <a:r>
              <a:rPr lang="en-GB" sz="1200">
                <a:solidFill>
                  <a:schemeClr val="dk1"/>
                </a:solidFill>
                <a:highlight>
                  <a:srgbClr val="FFFFFF"/>
                </a:highlight>
                <a:latin typeface="Roboto"/>
                <a:ea typeface="Roboto"/>
                <a:cs typeface="Roboto"/>
                <a:sym typeface="Roboto"/>
              </a:rPr>
              <a:t>easiest</a:t>
            </a:r>
            <a:r>
              <a:rPr lang="en-GB" sz="1200">
                <a:solidFill>
                  <a:schemeClr val="dk1"/>
                </a:solidFill>
                <a:highlight>
                  <a:srgbClr val="FFFFFF"/>
                </a:highlight>
                <a:latin typeface="Roboto"/>
                <a:ea typeface="Roboto"/>
                <a:cs typeface="Roboto"/>
                <a:sym typeface="Roboto"/>
              </a:rPr>
              <a:t> / most intuitive?</a:t>
            </a:r>
            <a:endParaRPr sz="1200">
              <a:solidFill>
                <a:schemeClr val="dk1"/>
              </a:solidFill>
              <a:highlight>
                <a:srgbClr val="FFFFFF"/>
              </a:highlight>
              <a:latin typeface="Roboto"/>
              <a:ea typeface="Roboto"/>
              <a:cs typeface="Roboto"/>
              <a:sym typeface="Roboto"/>
            </a:endParaRPr>
          </a:p>
          <a:p>
            <a:pPr indent="-304800" lvl="2" marL="13716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Which method uses the most resources of the raspberry pi, which the least? (by your opinion)</a:t>
            </a:r>
            <a:endParaRPr sz="1200">
              <a:solidFill>
                <a:schemeClr val="dk1"/>
              </a:solidFill>
              <a:highlight>
                <a:srgbClr val="FFFFFF"/>
              </a:highlight>
              <a:latin typeface="Roboto"/>
              <a:ea typeface="Roboto"/>
              <a:cs typeface="Roboto"/>
              <a:sym typeface="Roboto"/>
            </a:endParaRPr>
          </a:p>
          <a:p>
            <a:pPr indent="-304800" lvl="2" marL="13716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Run </a:t>
            </a:r>
            <a:r>
              <a:rPr b="1" lang="en-GB" sz="1200">
                <a:solidFill>
                  <a:schemeClr val="dk1"/>
                </a:solidFill>
                <a:highlight>
                  <a:srgbClr val="FFFFFF"/>
                </a:highlight>
                <a:latin typeface="Roboto"/>
                <a:ea typeface="Roboto"/>
                <a:cs typeface="Roboto"/>
                <a:sym typeface="Roboto"/>
              </a:rPr>
              <a:t>htop </a:t>
            </a:r>
            <a:r>
              <a:rPr lang="en-GB" sz="1200">
                <a:solidFill>
                  <a:schemeClr val="dk1"/>
                </a:solidFill>
                <a:highlight>
                  <a:srgbClr val="FFFFFF"/>
                </a:highlight>
                <a:latin typeface="Roboto"/>
                <a:ea typeface="Roboto"/>
                <a:cs typeface="Roboto"/>
                <a:sym typeface="Roboto"/>
              </a:rPr>
              <a:t>command in terminal to notice resources consumption for various setups.</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Write a new code which will</a:t>
            </a:r>
            <a:r>
              <a:rPr lang="en-GB" sz="1200">
                <a:solidFill>
                  <a:schemeClr val="dk1"/>
                </a:solidFill>
                <a:highlight>
                  <a:srgbClr val="FFFFFF"/>
                </a:highlight>
                <a:latin typeface="Roboto"/>
                <a:ea typeface="Roboto"/>
                <a:cs typeface="Roboto"/>
                <a:sym typeface="Roboto"/>
              </a:rPr>
              <a:t> send messages to the serial port with a counting number</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Test the Serial Monitor using Arduino IDE</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Test the Serial Monitor using VS Code (if </a:t>
            </a:r>
            <a:r>
              <a:rPr lang="en-GB" sz="1200">
                <a:solidFill>
                  <a:schemeClr val="dk1"/>
                </a:solidFill>
                <a:highlight>
                  <a:srgbClr val="FFFFFF"/>
                </a:highlight>
                <a:latin typeface="Roboto"/>
                <a:ea typeface="Roboto"/>
                <a:cs typeface="Roboto"/>
                <a:sym typeface="Roboto"/>
              </a:rPr>
              <a:t>extension</a:t>
            </a:r>
            <a:r>
              <a:rPr lang="en-GB" sz="1200">
                <a:solidFill>
                  <a:schemeClr val="dk1"/>
                </a:solidFill>
                <a:highlight>
                  <a:srgbClr val="FFFFFF"/>
                </a:highlight>
                <a:latin typeface="Roboto"/>
                <a:ea typeface="Roboto"/>
                <a:cs typeface="Roboto"/>
                <a:sym typeface="Roboto"/>
              </a:rPr>
              <a:t> is </a:t>
            </a:r>
            <a:r>
              <a:rPr lang="en-GB" sz="1200">
                <a:solidFill>
                  <a:schemeClr val="dk1"/>
                </a:solidFill>
                <a:highlight>
                  <a:srgbClr val="FFFFFF"/>
                </a:highlight>
                <a:latin typeface="Roboto"/>
                <a:ea typeface="Roboto"/>
                <a:cs typeface="Roboto"/>
                <a:sym typeface="Roboto"/>
              </a:rPr>
              <a:t>installed</a:t>
            </a:r>
            <a:r>
              <a:rPr lang="en-GB" sz="1200">
                <a:solidFill>
                  <a:schemeClr val="dk1"/>
                </a:solidFill>
                <a:highlight>
                  <a:srgbClr val="FFFFFF"/>
                </a:highlight>
                <a:latin typeface="Roboto"/>
                <a:ea typeface="Roboto"/>
                <a:cs typeface="Roboto"/>
                <a:sym typeface="Roboto"/>
              </a:rPr>
              <a:t>)</a:t>
            </a:r>
            <a:endParaRPr sz="1200">
              <a:solidFill>
                <a:schemeClr val="dk1"/>
              </a:solidFill>
              <a:highlight>
                <a:srgbClr val="FFFFFF"/>
              </a:highlight>
              <a:latin typeface="Roboto"/>
              <a:ea typeface="Roboto"/>
              <a:cs typeface="Roboto"/>
              <a:sym typeface="Roboto"/>
            </a:endParaRPr>
          </a:p>
          <a:p>
            <a:pPr indent="457200" lvl="0" marL="0" rtl="0" algn="l">
              <a:lnSpc>
                <a:spcPct val="143750"/>
              </a:lnSpc>
              <a:spcBef>
                <a:spcPts val="1200"/>
              </a:spcBef>
              <a:spcAft>
                <a:spcPts val="1200"/>
              </a:spcAft>
              <a:buNone/>
            </a:pPr>
            <a:r>
              <a:rPr b="1" lang="en-GB" sz="1200">
                <a:solidFill>
                  <a:schemeClr val="dk1"/>
                </a:solidFill>
                <a:highlight>
                  <a:srgbClr val="FFFFFF"/>
                </a:highlight>
                <a:latin typeface="Roboto"/>
                <a:ea typeface="Roboto"/>
                <a:cs typeface="Roboto"/>
                <a:sym typeface="Roboto"/>
              </a:rPr>
              <a:t>Only one Serial connection may be open at a time </a:t>
            </a:r>
            <a:endParaRPr b="1"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Practice 4 - Serial</a:t>
            </a:r>
            <a:r>
              <a:rPr b="1" lang="en-GB" sz="2250">
                <a:solidFill>
                  <a:srgbClr val="741B47"/>
                </a:solidFill>
                <a:highlight>
                  <a:srgbClr val="F9F9FA"/>
                </a:highlight>
                <a:latin typeface="Roboto"/>
                <a:ea typeface="Roboto"/>
                <a:cs typeface="Roboto"/>
                <a:sym typeface="Roboto"/>
              </a:rPr>
              <a:t> </a:t>
            </a:r>
            <a:r>
              <a:rPr b="1" lang="en-GB" sz="2250">
                <a:solidFill>
                  <a:srgbClr val="741B47"/>
                </a:solidFill>
                <a:highlight>
                  <a:srgbClr val="F9F9FA"/>
                </a:highlight>
                <a:latin typeface="Roboto"/>
                <a:ea typeface="Roboto"/>
                <a:cs typeface="Roboto"/>
                <a:sym typeface="Roboto"/>
              </a:rPr>
              <a:t>communication</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32" name="Google Shape;232;p35"/>
          <p:cNvSpPr txBox="1"/>
          <p:nvPr/>
        </p:nvSpPr>
        <p:spPr>
          <a:xfrm>
            <a:off x="405750" y="1017725"/>
            <a:ext cx="8236800" cy="16971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UartPoll.ino code to the microcontroller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Using the Terminal navigate to ~/WS_Zumo/Arduino/Examples/UartPoll</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Compile and upload the code SerialTest.ino using Arduino CLI commands.</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Run UartExample.py under  ~/WS_Zumo/Python/Examples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Write messages in arduino Serial Monitor and python console and see what happens. </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Explore the codes and understand the workflow</a:t>
            </a:r>
            <a:endParaRPr sz="1200">
              <a:solidFill>
                <a:schemeClr val="dk1"/>
              </a:solidFill>
              <a:highlight>
                <a:srgbClr val="FFFFFF"/>
              </a:highlight>
              <a:latin typeface="Roboto"/>
              <a:ea typeface="Roboto"/>
              <a:cs typeface="Roboto"/>
              <a:sym typeface="Roboto"/>
            </a:endParaRPr>
          </a:p>
        </p:txBody>
      </p:sp>
      <p:pic>
        <p:nvPicPr>
          <p:cNvPr id="233" name="Google Shape;233;p35"/>
          <p:cNvPicPr preferRelativeResize="0"/>
          <p:nvPr/>
        </p:nvPicPr>
        <p:blipFill>
          <a:blip r:embed="rId3">
            <a:alphaModFix/>
          </a:blip>
          <a:stretch>
            <a:fillRect/>
          </a:stretch>
        </p:blipFill>
        <p:spPr>
          <a:xfrm>
            <a:off x="2521212" y="2714825"/>
            <a:ext cx="4005873" cy="2200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Practice 5 - Teleoperation</a:t>
            </a:r>
            <a:r>
              <a:rPr b="1" lang="en-GB" sz="2250">
                <a:solidFill>
                  <a:srgbClr val="741B47"/>
                </a:solidFill>
                <a:highlight>
                  <a:srgbClr val="F9F9FA"/>
                </a:highlight>
                <a:latin typeface="Roboto"/>
                <a:ea typeface="Roboto"/>
                <a:cs typeface="Roboto"/>
                <a:sym typeface="Roboto"/>
              </a:rPr>
              <a:t> </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39" name="Google Shape;239;p36"/>
          <p:cNvSpPr txBox="1"/>
          <p:nvPr/>
        </p:nvSpPr>
        <p:spPr>
          <a:xfrm>
            <a:off x="405750" y="1017725"/>
            <a:ext cx="4618200" cy="35556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Upload TeleOperate.ino code to the </a:t>
            </a:r>
            <a:r>
              <a:rPr lang="en-GB" sz="1200">
                <a:solidFill>
                  <a:schemeClr val="dk1"/>
                </a:solidFill>
                <a:highlight>
                  <a:srgbClr val="FFFFFF"/>
                </a:highlight>
                <a:latin typeface="Roboto"/>
                <a:ea typeface="Roboto"/>
                <a:cs typeface="Roboto"/>
                <a:sym typeface="Roboto"/>
              </a:rPr>
              <a:t>microcontroller</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Using the Terminal navigate to ~/WS_Zumo/Arduino/Examples/Teleoperate</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Compile and upload the code TeleOperate.ino using Arduino CLI commands.</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Run JoystickCamera.py directly or </a:t>
            </a:r>
            <a:r>
              <a:rPr lang="en-GB" sz="1200">
                <a:solidFill>
                  <a:schemeClr val="dk1"/>
                </a:solidFill>
                <a:highlight>
                  <a:srgbClr val="FFFFFF"/>
                </a:highlight>
                <a:latin typeface="Roboto"/>
                <a:ea typeface="Roboto"/>
                <a:cs typeface="Roboto"/>
                <a:sym typeface="Roboto"/>
              </a:rPr>
              <a:t>through</a:t>
            </a:r>
            <a:r>
              <a:rPr lang="en-GB" sz="1200">
                <a:solidFill>
                  <a:schemeClr val="dk1"/>
                </a:solidFill>
                <a:highlight>
                  <a:srgbClr val="FFFFFF"/>
                </a:highlight>
                <a:latin typeface="Roboto"/>
                <a:ea typeface="Roboto"/>
                <a:cs typeface="Roboto"/>
                <a:sym typeface="Roboto"/>
              </a:rPr>
              <a:t> an aliased command </a:t>
            </a:r>
            <a:r>
              <a:rPr b="1" lang="en-GB" sz="1200">
                <a:solidFill>
                  <a:schemeClr val="dk1"/>
                </a:solidFill>
                <a:highlight>
                  <a:srgbClr val="FFFFFF"/>
                </a:highlight>
                <a:latin typeface="Roboto"/>
                <a:ea typeface="Roboto"/>
                <a:cs typeface="Roboto"/>
                <a:sym typeface="Roboto"/>
              </a:rPr>
              <a:t>zumoJoystick</a:t>
            </a:r>
            <a:endParaRPr b="1"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Using the browser navigate to the ip address of your platform using port 8500 i.e 192.168.0.110:8500</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Press Button A on the Zumo platform and switch on the power switch on the Zumo</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Check that your platform moves, open the serial </a:t>
            </a:r>
            <a:r>
              <a:rPr lang="en-GB" sz="1200">
                <a:solidFill>
                  <a:schemeClr val="dk1"/>
                </a:solidFill>
                <a:highlight>
                  <a:srgbClr val="FFFFFF"/>
                </a:highlight>
                <a:latin typeface="Roboto"/>
                <a:ea typeface="Roboto"/>
                <a:cs typeface="Roboto"/>
                <a:sym typeface="Roboto"/>
              </a:rPr>
              <a:t>monitor</a:t>
            </a:r>
            <a:r>
              <a:rPr lang="en-GB" sz="1200">
                <a:solidFill>
                  <a:schemeClr val="dk1"/>
                </a:solidFill>
                <a:highlight>
                  <a:srgbClr val="FFFFFF"/>
                </a:highlight>
                <a:latin typeface="Roboto"/>
                <a:ea typeface="Roboto"/>
                <a:cs typeface="Roboto"/>
                <a:sym typeface="Roboto"/>
              </a:rPr>
              <a:t> to see the debug messages. </a:t>
            </a:r>
            <a:endParaRPr sz="1200">
              <a:solidFill>
                <a:schemeClr val="dk1"/>
              </a:solidFill>
              <a:highlight>
                <a:srgbClr val="FFFFFF"/>
              </a:highlight>
              <a:latin typeface="Roboto"/>
              <a:ea typeface="Roboto"/>
              <a:cs typeface="Roboto"/>
              <a:sym typeface="Roboto"/>
            </a:endParaRPr>
          </a:p>
        </p:txBody>
      </p:sp>
      <p:pic>
        <p:nvPicPr>
          <p:cNvPr id="240" name="Google Shape;240;p36"/>
          <p:cNvPicPr preferRelativeResize="0"/>
          <p:nvPr/>
        </p:nvPicPr>
        <p:blipFill>
          <a:blip r:embed="rId3">
            <a:alphaModFix/>
          </a:blip>
          <a:stretch>
            <a:fillRect/>
          </a:stretch>
        </p:blipFill>
        <p:spPr>
          <a:xfrm>
            <a:off x="5084900" y="1103325"/>
            <a:ext cx="3815251" cy="29368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Practice 6 - ZumoPower</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46" name="Google Shape;246;p37"/>
          <p:cNvSpPr txBox="1"/>
          <p:nvPr/>
        </p:nvSpPr>
        <p:spPr>
          <a:xfrm>
            <a:off x="405750" y="1017725"/>
            <a:ext cx="8426700" cy="24936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zumo platform has 2 batteries. </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One powers the raspberry pi, which in turn powers the zumo platform over usb. Excluding the motors.</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second one powers the zumo platform including the motors. (Zumo platform will be powered from either source but the motors require the </a:t>
            </a:r>
            <a:r>
              <a:rPr lang="en-GB" sz="1200">
                <a:solidFill>
                  <a:schemeClr val="dk1"/>
                </a:solidFill>
                <a:highlight>
                  <a:srgbClr val="FFFFFF"/>
                </a:highlight>
                <a:latin typeface="Roboto"/>
                <a:ea typeface="Roboto"/>
                <a:cs typeface="Roboto"/>
                <a:sym typeface="Roboto"/>
              </a:rPr>
              <a:t>battery source for operation).</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To view the remaining charge of the batteries: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Run “zumoPower” aliased command in terminal to view the Raspberry Pi battery status.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Compile and run the BatteryStatus.ino for the </a:t>
            </a:r>
            <a:r>
              <a:rPr lang="en-GB" sz="1200">
                <a:solidFill>
                  <a:schemeClr val="dk1"/>
                </a:solidFill>
                <a:highlight>
                  <a:schemeClr val="lt1"/>
                </a:highlight>
                <a:latin typeface="Roboto"/>
                <a:ea typeface="Roboto"/>
                <a:cs typeface="Roboto"/>
                <a:sym typeface="Roboto"/>
              </a:rPr>
              <a:t>microcontroller</a:t>
            </a:r>
            <a:r>
              <a:rPr lang="en-GB" sz="1200">
                <a:solidFill>
                  <a:schemeClr val="dk1"/>
                </a:solidFill>
                <a:highlight>
                  <a:schemeClr val="lt1"/>
                </a:highlight>
                <a:latin typeface="Roboto"/>
                <a:ea typeface="Roboto"/>
                <a:cs typeface="Roboto"/>
                <a:sym typeface="Roboto"/>
              </a:rPr>
              <a:t> to see the remaining battery of the motors.</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Both batteries are lithium-ion type. Meaning full charge voltage is 4.2V. Mid status at 3.7V and depleted at around 3V. For additional information look for </a:t>
            </a:r>
            <a:r>
              <a:rPr lang="en-GB" sz="1200" u="sng">
                <a:solidFill>
                  <a:schemeClr val="hlink"/>
                </a:solidFill>
                <a:highlight>
                  <a:schemeClr val="lt1"/>
                </a:highlight>
                <a:latin typeface="Roboto"/>
                <a:ea typeface="Roboto"/>
                <a:cs typeface="Roboto"/>
                <a:sym typeface="Roboto"/>
                <a:hlinkClick r:id="rId3"/>
              </a:rPr>
              <a:t>lithium-ion discharge curve</a:t>
            </a:r>
            <a:r>
              <a:rPr lang="en-GB" sz="1200">
                <a:solidFill>
                  <a:schemeClr val="dk1"/>
                </a:solidFill>
                <a:highlight>
                  <a:schemeClr val="lt1"/>
                </a:highlight>
                <a:latin typeface="Roboto"/>
                <a:ea typeface="Roboto"/>
                <a:cs typeface="Roboto"/>
                <a:sym typeface="Roboto"/>
              </a:rPr>
              <a:t>.</a:t>
            </a:r>
            <a:endParaRPr sz="1200">
              <a:solidFill>
                <a:schemeClr val="dk1"/>
              </a:solidFill>
              <a:highlight>
                <a:schemeClr val="lt1"/>
              </a:highlight>
              <a:latin typeface="Roboto"/>
              <a:ea typeface="Roboto"/>
              <a:cs typeface="Roboto"/>
              <a:sym typeface="Roboto"/>
            </a:endParaRPr>
          </a:p>
        </p:txBody>
      </p:sp>
      <p:pic>
        <p:nvPicPr>
          <p:cNvPr id="247" name="Google Shape;247;p37"/>
          <p:cNvPicPr preferRelativeResize="0"/>
          <p:nvPr/>
        </p:nvPicPr>
        <p:blipFill>
          <a:blip r:embed="rId4">
            <a:alphaModFix/>
          </a:blip>
          <a:stretch>
            <a:fillRect/>
          </a:stretch>
        </p:blipFill>
        <p:spPr>
          <a:xfrm>
            <a:off x="6270175" y="3230875"/>
            <a:ext cx="2562124" cy="1708075"/>
          </a:xfrm>
          <a:prstGeom prst="rect">
            <a:avLst/>
          </a:prstGeom>
          <a:noFill/>
          <a:ln>
            <a:noFill/>
          </a:ln>
        </p:spPr>
      </p:pic>
      <p:sp>
        <p:nvSpPr>
          <p:cNvPr id="248" name="Google Shape;248;p37"/>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5"/>
              </a:rPr>
              <a:t>https://www.ufinebattery.com/blog/how-to-read-lithium-battery-discharge-curve-and-charging-curve/</a:t>
            </a:r>
            <a:r>
              <a:rPr lang="en-GB" sz="1025">
                <a:solidFill>
                  <a:schemeClr val="dk1"/>
                </a:solidFill>
              </a:rPr>
              <a:t> </a:t>
            </a:r>
            <a:endParaRPr sz="1025">
              <a:solidFill>
                <a:schemeClr val="dk1"/>
              </a:solidFill>
            </a:endParaRPr>
          </a:p>
        </p:txBody>
      </p:sp>
      <p:pic>
        <p:nvPicPr>
          <p:cNvPr id="249" name="Google Shape;249;p37"/>
          <p:cNvPicPr preferRelativeResize="0"/>
          <p:nvPr/>
        </p:nvPicPr>
        <p:blipFill>
          <a:blip r:embed="rId6">
            <a:alphaModFix/>
          </a:blip>
          <a:stretch>
            <a:fillRect/>
          </a:stretch>
        </p:blipFill>
        <p:spPr>
          <a:xfrm>
            <a:off x="311700" y="3511325"/>
            <a:ext cx="3296425" cy="1212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2300"/>
              </a:spcAft>
              <a:buNone/>
            </a:pPr>
            <a:r>
              <a:rPr b="1" lang="en-GB" sz="2250">
                <a:solidFill>
                  <a:srgbClr val="741B47"/>
                </a:solidFill>
                <a:highlight>
                  <a:srgbClr val="F9F9FA"/>
                </a:highlight>
                <a:latin typeface="Roboto"/>
                <a:ea typeface="Roboto"/>
                <a:cs typeface="Roboto"/>
                <a:sym typeface="Roboto"/>
              </a:rPr>
              <a:t>Exercise 3 - Zumo Examples</a:t>
            </a:r>
            <a:endParaRPr/>
          </a:p>
        </p:txBody>
      </p:sp>
      <p:sp>
        <p:nvSpPr>
          <p:cNvPr id="255" name="Google Shape;255;p38"/>
          <p:cNvSpPr txBox="1"/>
          <p:nvPr/>
        </p:nvSpPr>
        <p:spPr>
          <a:xfrm>
            <a:off x="405750" y="1017725"/>
            <a:ext cx="6049800" cy="22281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Review the </a:t>
            </a:r>
            <a:r>
              <a:rPr lang="en-GB" sz="1200">
                <a:solidFill>
                  <a:schemeClr val="dk1"/>
                </a:solidFill>
                <a:highlight>
                  <a:srgbClr val="FFFFFF"/>
                </a:highlight>
                <a:latin typeface="Roboto"/>
                <a:ea typeface="Roboto"/>
                <a:cs typeface="Roboto"/>
                <a:sym typeface="Roboto"/>
              </a:rPr>
              <a:t>available</a:t>
            </a:r>
            <a:r>
              <a:rPr lang="en-GB" sz="1200">
                <a:solidFill>
                  <a:schemeClr val="dk1"/>
                </a:solidFill>
                <a:highlight>
                  <a:srgbClr val="FFFFFF"/>
                </a:highlight>
                <a:latin typeface="Roboto"/>
                <a:ea typeface="Roboto"/>
                <a:cs typeface="Roboto"/>
                <a:sym typeface="Roboto"/>
              </a:rPr>
              <a:t> examples for the zumo platform</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Arduino examples under </a:t>
            </a:r>
            <a:r>
              <a:rPr lang="en-GB" sz="1200">
                <a:solidFill>
                  <a:schemeClr val="dk1"/>
                </a:solidFill>
                <a:highlight>
                  <a:schemeClr val="lt1"/>
                </a:highlight>
                <a:latin typeface="Roboto"/>
                <a:ea typeface="Roboto"/>
                <a:cs typeface="Roboto"/>
                <a:sym typeface="Roboto"/>
              </a:rPr>
              <a:t>~/WS_Zumo/Arduino/Examples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Python examples under ~/WS_Zumo/Python/Examples</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Turn off the system at the end of the session</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Connect it to Power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Send shutdown command: “sudo shutdown -h now” or “zumoShutdown”</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Force shutdown by pressing the On/Off Switch for 8 seconds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Turn off the power slide on the zumo Platform</a:t>
            </a:r>
            <a:endParaRPr sz="1200">
              <a:solidFill>
                <a:schemeClr val="dk1"/>
              </a:solidFill>
              <a:highlight>
                <a:schemeClr val="lt1"/>
              </a:highlight>
              <a:latin typeface="Roboto"/>
              <a:ea typeface="Roboto"/>
              <a:cs typeface="Roboto"/>
              <a:sym typeface="Roboto"/>
            </a:endParaRPr>
          </a:p>
        </p:txBody>
      </p:sp>
      <p:pic>
        <p:nvPicPr>
          <p:cNvPr id="256" name="Google Shape;256;p38"/>
          <p:cNvPicPr preferRelativeResize="0"/>
          <p:nvPr/>
        </p:nvPicPr>
        <p:blipFill>
          <a:blip r:embed="rId3">
            <a:alphaModFix/>
          </a:blip>
          <a:stretch>
            <a:fillRect/>
          </a:stretch>
        </p:blipFill>
        <p:spPr>
          <a:xfrm>
            <a:off x="4572000" y="3002084"/>
            <a:ext cx="4260300" cy="1748992"/>
          </a:xfrm>
          <a:prstGeom prst="rect">
            <a:avLst/>
          </a:prstGeom>
          <a:noFill/>
          <a:ln>
            <a:noFill/>
          </a:ln>
        </p:spPr>
      </p:pic>
      <p:sp>
        <p:nvSpPr>
          <p:cNvPr id="257" name="Google Shape;257;p38"/>
          <p:cNvSpPr txBox="1"/>
          <p:nvPr/>
        </p:nvSpPr>
        <p:spPr>
          <a:xfrm>
            <a:off x="4486800" y="4751075"/>
            <a:ext cx="4345500" cy="3078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800">
                <a:solidFill>
                  <a:schemeClr val="dk1"/>
                </a:solidFill>
                <a:highlight>
                  <a:schemeClr val="lt1"/>
                </a:highlight>
                <a:latin typeface="Roboto"/>
                <a:ea typeface="Roboto"/>
                <a:cs typeface="Roboto"/>
                <a:sym typeface="Roboto"/>
              </a:rPr>
              <a:t>Note: If you use Serial </a:t>
            </a:r>
            <a:r>
              <a:rPr lang="en-GB" sz="800">
                <a:solidFill>
                  <a:schemeClr val="dk1"/>
                </a:solidFill>
                <a:highlight>
                  <a:schemeClr val="lt1"/>
                </a:highlight>
                <a:latin typeface="Roboto"/>
                <a:ea typeface="Roboto"/>
                <a:cs typeface="Roboto"/>
                <a:sym typeface="Roboto"/>
              </a:rPr>
              <a:t>Plotter </a:t>
            </a:r>
            <a:r>
              <a:rPr lang="en-GB" sz="800">
                <a:solidFill>
                  <a:schemeClr val="dk1"/>
                </a:solidFill>
                <a:highlight>
                  <a:schemeClr val="lt1"/>
                </a:highlight>
                <a:latin typeface="Roboto"/>
                <a:ea typeface="Roboto"/>
                <a:cs typeface="Roboto"/>
                <a:sym typeface="Roboto"/>
              </a:rPr>
              <a:t>make sure to close it before uploading a new code</a:t>
            </a:r>
            <a:endParaRPr sz="800">
              <a:solidFill>
                <a:schemeClr val="dk1"/>
              </a:solidFill>
              <a:highlight>
                <a:schemeClr val="lt1"/>
              </a:highlight>
              <a:latin typeface="Roboto"/>
              <a:ea typeface="Roboto"/>
              <a:cs typeface="Roboto"/>
              <a:sym typeface="Roboto"/>
            </a:endParaRPr>
          </a:p>
        </p:txBody>
      </p:sp>
      <p:pic>
        <p:nvPicPr>
          <p:cNvPr id="258" name="Google Shape;258;p38"/>
          <p:cNvPicPr preferRelativeResize="0"/>
          <p:nvPr/>
        </p:nvPicPr>
        <p:blipFill>
          <a:blip r:embed="rId4">
            <a:alphaModFix/>
          </a:blip>
          <a:stretch>
            <a:fillRect/>
          </a:stretch>
        </p:blipFill>
        <p:spPr>
          <a:xfrm>
            <a:off x="6612950" y="445025"/>
            <a:ext cx="2219351" cy="2219351"/>
          </a:xfrm>
          <a:prstGeom prst="rect">
            <a:avLst/>
          </a:prstGeom>
          <a:noFill/>
          <a:ln>
            <a:noFill/>
          </a:ln>
        </p:spPr>
      </p:pic>
      <p:pic>
        <p:nvPicPr>
          <p:cNvPr id="259" name="Google Shape;259;p38"/>
          <p:cNvPicPr preferRelativeResize="0"/>
          <p:nvPr/>
        </p:nvPicPr>
        <p:blipFill>
          <a:blip r:embed="rId5">
            <a:alphaModFix/>
          </a:blip>
          <a:stretch>
            <a:fillRect/>
          </a:stretch>
        </p:blipFill>
        <p:spPr>
          <a:xfrm>
            <a:off x="1108550" y="3245825"/>
            <a:ext cx="1542450" cy="1542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76470"/>
              </a:lnSpc>
              <a:spcBef>
                <a:spcPts val="0"/>
              </a:spcBef>
              <a:spcAft>
                <a:spcPts val="2300"/>
              </a:spcAft>
              <a:buNone/>
            </a:pPr>
            <a:r>
              <a:rPr b="1" lang="en-GB" sz="2250">
                <a:solidFill>
                  <a:srgbClr val="741B47"/>
                </a:solidFill>
                <a:highlight>
                  <a:srgbClr val="F9F9FA"/>
                </a:highlight>
                <a:latin typeface="Roboto"/>
                <a:ea typeface="Roboto"/>
                <a:cs typeface="Roboto"/>
                <a:sym typeface="Roboto"/>
              </a:rPr>
              <a:t>Home Kit Experiments</a:t>
            </a:r>
            <a:endParaRPr/>
          </a:p>
        </p:txBody>
      </p:sp>
      <p:pic>
        <p:nvPicPr>
          <p:cNvPr id="265" name="Google Shape;265;p39"/>
          <p:cNvPicPr preferRelativeResize="0"/>
          <p:nvPr/>
        </p:nvPicPr>
        <p:blipFill>
          <a:blip r:embed="rId3">
            <a:alphaModFix/>
          </a:blip>
          <a:stretch>
            <a:fillRect/>
          </a:stretch>
        </p:blipFill>
        <p:spPr>
          <a:xfrm>
            <a:off x="2101575" y="1017725"/>
            <a:ext cx="4940848" cy="3705624"/>
          </a:xfrm>
          <a:prstGeom prst="rect">
            <a:avLst/>
          </a:prstGeom>
          <a:noFill/>
          <a:ln>
            <a:noFill/>
          </a:ln>
        </p:spPr>
      </p:pic>
      <p:sp>
        <p:nvSpPr>
          <p:cNvPr id="266" name="Google Shape;266;p3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67" name="Google Shape;267;p39"/>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00">
                <a:solidFill>
                  <a:schemeClr val="dk1"/>
                </a:solidFill>
              </a:rPr>
              <a:t>By:</a:t>
            </a:r>
            <a:r>
              <a:rPr lang="en-GB" sz="1000">
                <a:solidFill>
                  <a:schemeClr val="dk1"/>
                </a:solidFill>
              </a:rPr>
              <a:t> </a:t>
            </a:r>
            <a:r>
              <a:rPr lang="en-GB" sz="1000" u="sng">
                <a:solidFill>
                  <a:schemeClr val="hlink"/>
                </a:solidFill>
                <a:hlinkClick r:id="rId4"/>
              </a:rPr>
              <a:t>https://github.com/TALs-Education/HomeExperiments</a:t>
            </a:r>
            <a:r>
              <a:rPr lang="en-GB" sz="1000">
                <a:solidFill>
                  <a:schemeClr val="dk1"/>
                </a:solidFill>
              </a:rPr>
              <a:t> </a:t>
            </a:r>
            <a:endParaRPr sz="1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